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3" r:id="rId1"/>
  </p:sldMasterIdLst>
  <p:sldIdLst>
    <p:sldId id="256" r:id="rId2"/>
    <p:sldId id="257" r:id="rId3"/>
    <p:sldId id="258" r:id="rId4"/>
    <p:sldId id="284" r:id="rId5"/>
    <p:sldId id="307" r:id="rId6"/>
    <p:sldId id="285" r:id="rId7"/>
    <p:sldId id="286" r:id="rId8"/>
    <p:sldId id="291" r:id="rId9"/>
    <p:sldId id="281" r:id="rId10"/>
    <p:sldId id="292" r:id="rId11"/>
    <p:sldId id="297" r:id="rId12"/>
    <p:sldId id="299" r:id="rId13"/>
    <p:sldId id="298" r:id="rId14"/>
    <p:sldId id="293" r:id="rId15"/>
    <p:sldId id="260" r:id="rId16"/>
    <p:sldId id="294" r:id="rId17"/>
    <p:sldId id="295" r:id="rId18"/>
    <p:sldId id="296" r:id="rId19"/>
    <p:sldId id="261" r:id="rId20"/>
    <p:sldId id="300" r:id="rId21"/>
    <p:sldId id="301" r:id="rId22"/>
    <p:sldId id="302" r:id="rId23"/>
    <p:sldId id="259" r:id="rId24"/>
    <p:sldId id="278" r:id="rId25"/>
    <p:sldId id="279" r:id="rId26"/>
    <p:sldId id="280" r:id="rId27"/>
    <p:sldId id="303" r:id="rId28"/>
    <p:sldId id="305" r:id="rId29"/>
    <p:sldId id="306" r:id="rId30"/>
    <p:sldId id="283" r:id="rId3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7"/>
    <p:restoredTop sz="94656"/>
  </p:normalViewPr>
  <p:slideViewPr>
    <p:cSldViewPr snapToGrid="0">
      <p:cViewPr varScale="1">
        <p:scale>
          <a:sx n="78" d="100"/>
          <a:sy n="78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BAC311-8A60-4527-89E8-CC84F5638DE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C7471A0-E912-4BDA-9621-D6D64E9778CF}">
      <dgm:prSet/>
      <dgm:spPr/>
      <dgm:t>
        <a:bodyPr/>
        <a:lstStyle/>
        <a:p>
          <a:r>
            <a:rPr lang="it-IT" noProof="0" dirty="0"/>
            <a:t>Introduzione</a:t>
          </a:r>
        </a:p>
      </dgm:t>
    </dgm:pt>
    <dgm:pt modelId="{3803C004-B2BD-4EC0-AF8C-0D925F7A0BC4}" type="parTrans" cxnId="{DC4EC28F-92DD-48F6-8863-72D55E763287}">
      <dgm:prSet/>
      <dgm:spPr/>
      <dgm:t>
        <a:bodyPr/>
        <a:lstStyle/>
        <a:p>
          <a:endParaRPr lang="en-US"/>
        </a:p>
      </dgm:t>
    </dgm:pt>
    <dgm:pt modelId="{A8C6F876-5CC8-4ED2-988B-3BF9453FCAA4}" type="sibTrans" cxnId="{DC4EC28F-92DD-48F6-8863-72D55E763287}">
      <dgm:prSet phldrT="01"/>
      <dgm:spPr/>
      <dgm:t>
        <a:bodyPr/>
        <a:lstStyle/>
        <a:p>
          <a:r>
            <a:rPr lang="it-IT" noProof="0"/>
            <a:t>01</a:t>
          </a:r>
        </a:p>
      </dgm:t>
    </dgm:pt>
    <dgm:pt modelId="{9403F8A3-4D33-4B59-AF61-F7AF70D9D5DE}">
      <dgm:prSet/>
      <dgm:spPr/>
      <dgm:t>
        <a:bodyPr/>
        <a:lstStyle/>
        <a:p>
          <a:r>
            <a:rPr lang="it-IT" noProof="0" dirty="0"/>
            <a:t>Modello matematico</a:t>
          </a:r>
        </a:p>
      </dgm:t>
    </dgm:pt>
    <dgm:pt modelId="{31EE9B54-596E-4006-A622-3036811770D0}" type="parTrans" cxnId="{365F6AA7-CE4D-446A-83D4-356468689F9C}">
      <dgm:prSet/>
      <dgm:spPr/>
      <dgm:t>
        <a:bodyPr/>
        <a:lstStyle/>
        <a:p>
          <a:endParaRPr lang="en-US"/>
        </a:p>
      </dgm:t>
    </dgm:pt>
    <dgm:pt modelId="{22330FA6-2670-4A47-86A5-0131678B548F}" type="sibTrans" cxnId="{365F6AA7-CE4D-446A-83D4-356468689F9C}">
      <dgm:prSet phldrT="03"/>
      <dgm:spPr/>
      <dgm:t>
        <a:bodyPr/>
        <a:lstStyle/>
        <a:p>
          <a:r>
            <a:rPr lang="it-IT" noProof="0"/>
            <a:t>03</a:t>
          </a:r>
        </a:p>
      </dgm:t>
    </dgm:pt>
    <dgm:pt modelId="{EE136704-C467-45A9-9F0E-FCDBD87750C6}">
      <dgm:prSet/>
      <dgm:spPr/>
      <dgm:t>
        <a:bodyPr/>
        <a:lstStyle/>
        <a:p>
          <a:r>
            <a:rPr lang="it-IT" noProof="0" dirty="0"/>
            <a:t>Analisi</a:t>
          </a:r>
        </a:p>
      </dgm:t>
    </dgm:pt>
    <dgm:pt modelId="{2E227802-4606-410C-B34A-660CBD8AC3E9}" type="parTrans" cxnId="{BCB8B555-F560-470D-AF9B-829AB25651A0}">
      <dgm:prSet/>
      <dgm:spPr/>
      <dgm:t>
        <a:bodyPr/>
        <a:lstStyle/>
        <a:p>
          <a:endParaRPr lang="en-US"/>
        </a:p>
      </dgm:t>
    </dgm:pt>
    <dgm:pt modelId="{F8045B74-562C-476F-A860-DD531C5B3F87}" type="sibTrans" cxnId="{BCB8B555-F560-470D-AF9B-829AB25651A0}">
      <dgm:prSet phldrT="02"/>
      <dgm:spPr/>
      <dgm:t>
        <a:bodyPr/>
        <a:lstStyle/>
        <a:p>
          <a:r>
            <a:rPr lang="it-IT" noProof="0"/>
            <a:t>02</a:t>
          </a:r>
        </a:p>
      </dgm:t>
    </dgm:pt>
    <dgm:pt modelId="{0BCDA371-11A6-429A-8876-5FCC86C9857A}">
      <dgm:prSet/>
      <dgm:spPr/>
      <dgm:t>
        <a:bodyPr/>
        <a:lstStyle/>
        <a:p>
          <a:r>
            <a:rPr lang="it-IT" noProof="0" dirty="0"/>
            <a:t>Confronto</a:t>
          </a:r>
        </a:p>
      </dgm:t>
    </dgm:pt>
    <dgm:pt modelId="{23BA7107-8DF4-460A-9B3E-8C6430877974}" type="parTrans" cxnId="{C7440715-7153-4014-AF10-D1DEAA62A3F9}">
      <dgm:prSet/>
      <dgm:spPr/>
      <dgm:t>
        <a:bodyPr/>
        <a:lstStyle/>
        <a:p>
          <a:endParaRPr lang="en-US"/>
        </a:p>
      </dgm:t>
    </dgm:pt>
    <dgm:pt modelId="{42D454C9-86EB-4126-9692-26A0C0F08836}" type="sibTrans" cxnId="{C7440715-7153-4014-AF10-D1DEAA62A3F9}">
      <dgm:prSet phldrT="04"/>
      <dgm:spPr/>
      <dgm:t>
        <a:bodyPr/>
        <a:lstStyle/>
        <a:p>
          <a:r>
            <a:rPr lang="it-IT" noProof="0"/>
            <a:t>04</a:t>
          </a:r>
        </a:p>
      </dgm:t>
    </dgm:pt>
    <dgm:pt modelId="{3409A82C-0B96-4EB3-8FDF-CD44D5994842}">
      <dgm:prSet/>
      <dgm:spPr/>
      <dgm:t>
        <a:bodyPr/>
        <a:lstStyle/>
        <a:p>
          <a:r>
            <a:rPr lang="it-IT" noProof="0" dirty="0"/>
            <a:t>Conclusioni </a:t>
          </a:r>
        </a:p>
      </dgm:t>
    </dgm:pt>
    <dgm:pt modelId="{56CA3C00-C0F2-45EA-B7E7-2A17ECA02403}" type="parTrans" cxnId="{53F38A54-BDEC-4548-9299-AA91C699CA7C}">
      <dgm:prSet/>
      <dgm:spPr/>
      <dgm:t>
        <a:bodyPr/>
        <a:lstStyle/>
        <a:p>
          <a:endParaRPr lang="en-US"/>
        </a:p>
      </dgm:t>
    </dgm:pt>
    <dgm:pt modelId="{39D7F86B-1A11-4712-BE4D-D73AA9089A94}" type="sibTrans" cxnId="{53F38A54-BDEC-4548-9299-AA91C699CA7C}">
      <dgm:prSet phldrT="05"/>
      <dgm:spPr/>
      <dgm:t>
        <a:bodyPr/>
        <a:lstStyle/>
        <a:p>
          <a:r>
            <a:rPr lang="en-US"/>
            <a:t>05</a:t>
          </a:r>
        </a:p>
      </dgm:t>
    </dgm:pt>
    <dgm:pt modelId="{58E8BF34-D572-411A-A371-09484CBCC7C5}" type="pres">
      <dgm:prSet presAssocID="{27BAC311-8A60-4527-89E8-CC84F5638DEB}" presName="Name0" presStyleCnt="0">
        <dgm:presLayoutVars>
          <dgm:animLvl val="lvl"/>
          <dgm:resizeHandles val="exact"/>
        </dgm:presLayoutVars>
      </dgm:prSet>
      <dgm:spPr/>
    </dgm:pt>
    <dgm:pt modelId="{555F0DB2-31B2-44CB-8ACC-1DF009111C6D}" type="pres">
      <dgm:prSet presAssocID="{0C7471A0-E912-4BDA-9621-D6D64E9778CF}" presName="compositeNode" presStyleCnt="0">
        <dgm:presLayoutVars>
          <dgm:bulletEnabled val="1"/>
        </dgm:presLayoutVars>
      </dgm:prSet>
      <dgm:spPr/>
    </dgm:pt>
    <dgm:pt modelId="{598A9B2B-BB8F-4EC6-A1C4-0257DE39A299}" type="pres">
      <dgm:prSet presAssocID="{0C7471A0-E912-4BDA-9621-D6D64E9778CF}" presName="bgRect" presStyleLbl="alignNode1" presStyleIdx="0" presStyleCnt="5"/>
      <dgm:spPr/>
    </dgm:pt>
    <dgm:pt modelId="{A905349E-5D01-47B8-9DD3-D84F032C4949}" type="pres">
      <dgm:prSet presAssocID="{A8C6F876-5CC8-4ED2-988B-3BF9453FCAA4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2BF95014-04AF-4EC9-B8C7-8A17FA818A5F}" type="pres">
      <dgm:prSet presAssocID="{0C7471A0-E912-4BDA-9621-D6D64E9778CF}" presName="nodeRect" presStyleLbl="alignNode1" presStyleIdx="0" presStyleCnt="5">
        <dgm:presLayoutVars>
          <dgm:bulletEnabled val="1"/>
        </dgm:presLayoutVars>
      </dgm:prSet>
      <dgm:spPr/>
    </dgm:pt>
    <dgm:pt modelId="{776624F6-F150-47AF-BE95-45C03EA2015E}" type="pres">
      <dgm:prSet presAssocID="{A8C6F876-5CC8-4ED2-988B-3BF9453FCAA4}" presName="sibTrans" presStyleCnt="0"/>
      <dgm:spPr/>
    </dgm:pt>
    <dgm:pt modelId="{2894EAB7-68E2-42BF-87E5-757D8A1B9B3D}" type="pres">
      <dgm:prSet presAssocID="{EE136704-C467-45A9-9F0E-FCDBD87750C6}" presName="compositeNode" presStyleCnt="0">
        <dgm:presLayoutVars>
          <dgm:bulletEnabled val="1"/>
        </dgm:presLayoutVars>
      </dgm:prSet>
      <dgm:spPr/>
    </dgm:pt>
    <dgm:pt modelId="{35B72976-C2A4-4434-82CD-249B47508BA4}" type="pres">
      <dgm:prSet presAssocID="{EE136704-C467-45A9-9F0E-FCDBD87750C6}" presName="bgRect" presStyleLbl="alignNode1" presStyleIdx="1" presStyleCnt="5"/>
      <dgm:spPr/>
    </dgm:pt>
    <dgm:pt modelId="{8DEAC3E0-5927-477E-ABCC-5F279316D099}" type="pres">
      <dgm:prSet presAssocID="{F8045B74-562C-476F-A860-DD531C5B3F87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BCDCEC29-FFF5-4CE2-AA4E-076D694B9952}" type="pres">
      <dgm:prSet presAssocID="{EE136704-C467-45A9-9F0E-FCDBD87750C6}" presName="nodeRect" presStyleLbl="alignNode1" presStyleIdx="1" presStyleCnt="5">
        <dgm:presLayoutVars>
          <dgm:bulletEnabled val="1"/>
        </dgm:presLayoutVars>
      </dgm:prSet>
      <dgm:spPr/>
    </dgm:pt>
    <dgm:pt modelId="{5F182025-0D7A-46A4-BD67-D36F02DA2759}" type="pres">
      <dgm:prSet presAssocID="{F8045B74-562C-476F-A860-DD531C5B3F87}" presName="sibTrans" presStyleCnt="0"/>
      <dgm:spPr/>
    </dgm:pt>
    <dgm:pt modelId="{286E861D-4EEE-4ABC-8187-2CE7AAC9CB66}" type="pres">
      <dgm:prSet presAssocID="{9403F8A3-4D33-4B59-AF61-F7AF70D9D5DE}" presName="compositeNode" presStyleCnt="0">
        <dgm:presLayoutVars>
          <dgm:bulletEnabled val="1"/>
        </dgm:presLayoutVars>
      </dgm:prSet>
      <dgm:spPr/>
    </dgm:pt>
    <dgm:pt modelId="{4F2FA694-3BD4-4315-84EE-719393AA4E87}" type="pres">
      <dgm:prSet presAssocID="{9403F8A3-4D33-4B59-AF61-F7AF70D9D5DE}" presName="bgRect" presStyleLbl="alignNode1" presStyleIdx="2" presStyleCnt="5"/>
      <dgm:spPr/>
    </dgm:pt>
    <dgm:pt modelId="{1CF4C87B-5839-42FF-8DB8-E98AE1BCEF64}" type="pres">
      <dgm:prSet presAssocID="{22330FA6-2670-4A47-86A5-0131678B548F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051807AE-9633-4A12-A6F4-1C9E53E59C83}" type="pres">
      <dgm:prSet presAssocID="{9403F8A3-4D33-4B59-AF61-F7AF70D9D5DE}" presName="nodeRect" presStyleLbl="alignNode1" presStyleIdx="2" presStyleCnt="5">
        <dgm:presLayoutVars>
          <dgm:bulletEnabled val="1"/>
        </dgm:presLayoutVars>
      </dgm:prSet>
      <dgm:spPr/>
    </dgm:pt>
    <dgm:pt modelId="{6A83ABE8-A905-408D-B5D5-6F16B2E27CCC}" type="pres">
      <dgm:prSet presAssocID="{22330FA6-2670-4A47-86A5-0131678B548F}" presName="sibTrans" presStyleCnt="0"/>
      <dgm:spPr/>
    </dgm:pt>
    <dgm:pt modelId="{76F037D8-0159-48E6-9934-2602820DE926}" type="pres">
      <dgm:prSet presAssocID="{0BCDA371-11A6-429A-8876-5FCC86C9857A}" presName="compositeNode" presStyleCnt="0">
        <dgm:presLayoutVars>
          <dgm:bulletEnabled val="1"/>
        </dgm:presLayoutVars>
      </dgm:prSet>
      <dgm:spPr/>
    </dgm:pt>
    <dgm:pt modelId="{865DB5A5-3CBD-4BCF-9BE2-9A482D0D55BB}" type="pres">
      <dgm:prSet presAssocID="{0BCDA371-11A6-429A-8876-5FCC86C9857A}" presName="bgRect" presStyleLbl="alignNode1" presStyleIdx="3" presStyleCnt="5"/>
      <dgm:spPr/>
    </dgm:pt>
    <dgm:pt modelId="{1DD14B9F-9203-4843-8CB3-29561D90F213}" type="pres">
      <dgm:prSet presAssocID="{42D454C9-86EB-4126-9692-26A0C0F08836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638DBA6B-6DB3-409A-B099-2969351F37FE}" type="pres">
      <dgm:prSet presAssocID="{0BCDA371-11A6-429A-8876-5FCC86C9857A}" presName="nodeRect" presStyleLbl="alignNode1" presStyleIdx="3" presStyleCnt="5">
        <dgm:presLayoutVars>
          <dgm:bulletEnabled val="1"/>
        </dgm:presLayoutVars>
      </dgm:prSet>
      <dgm:spPr/>
    </dgm:pt>
    <dgm:pt modelId="{B52F7EE7-6F4C-4FC5-8161-C78EB9780374}" type="pres">
      <dgm:prSet presAssocID="{42D454C9-86EB-4126-9692-26A0C0F08836}" presName="sibTrans" presStyleCnt="0"/>
      <dgm:spPr/>
    </dgm:pt>
    <dgm:pt modelId="{CFEA2F1D-5911-49EA-A199-C909421C16F8}" type="pres">
      <dgm:prSet presAssocID="{3409A82C-0B96-4EB3-8FDF-CD44D5994842}" presName="compositeNode" presStyleCnt="0">
        <dgm:presLayoutVars>
          <dgm:bulletEnabled val="1"/>
        </dgm:presLayoutVars>
      </dgm:prSet>
      <dgm:spPr/>
    </dgm:pt>
    <dgm:pt modelId="{3B30754F-A515-4505-8A2C-844C4D05752D}" type="pres">
      <dgm:prSet presAssocID="{3409A82C-0B96-4EB3-8FDF-CD44D5994842}" presName="bgRect" presStyleLbl="alignNode1" presStyleIdx="4" presStyleCnt="5"/>
      <dgm:spPr/>
    </dgm:pt>
    <dgm:pt modelId="{D515510B-EB57-4E64-9A36-848A35E11E85}" type="pres">
      <dgm:prSet presAssocID="{39D7F86B-1A11-4712-BE4D-D73AA9089A94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F2F1B80F-62E6-4091-8DD2-4013FE3BC512}" type="pres">
      <dgm:prSet presAssocID="{3409A82C-0B96-4EB3-8FDF-CD44D5994842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C761EB13-8E56-4A45-A68B-30AA0BF6E2DE}" type="presOf" srcId="{39D7F86B-1A11-4712-BE4D-D73AA9089A94}" destId="{D515510B-EB57-4E64-9A36-848A35E11E85}" srcOrd="0" destOrd="0" presId="urn:microsoft.com/office/officeart/2016/7/layout/LinearBlockProcessNumbered"/>
    <dgm:cxn modelId="{C7440715-7153-4014-AF10-D1DEAA62A3F9}" srcId="{27BAC311-8A60-4527-89E8-CC84F5638DEB}" destId="{0BCDA371-11A6-429A-8876-5FCC86C9857A}" srcOrd="3" destOrd="0" parTransId="{23BA7107-8DF4-460A-9B3E-8C6430877974}" sibTransId="{42D454C9-86EB-4126-9692-26A0C0F08836}"/>
    <dgm:cxn modelId="{04669819-11A9-4340-A581-4ED7869C1217}" type="presOf" srcId="{3409A82C-0B96-4EB3-8FDF-CD44D5994842}" destId="{3B30754F-A515-4505-8A2C-844C4D05752D}" srcOrd="0" destOrd="0" presId="urn:microsoft.com/office/officeart/2016/7/layout/LinearBlockProcessNumbered"/>
    <dgm:cxn modelId="{BA8A7440-4154-4507-BEA5-39D6982EBA38}" type="presOf" srcId="{0C7471A0-E912-4BDA-9621-D6D64E9778CF}" destId="{598A9B2B-BB8F-4EC6-A1C4-0257DE39A299}" srcOrd="0" destOrd="0" presId="urn:microsoft.com/office/officeart/2016/7/layout/LinearBlockProcessNumbered"/>
    <dgm:cxn modelId="{2667045F-8581-4C88-B6A8-A969EFDA0007}" type="presOf" srcId="{3409A82C-0B96-4EB3-8FDF-CD44D5994842}" destId="{F2F1B80F-62E6-4091-8DD2-4013FE3BC512}" srcOrd="1" destOrd="0" presId="urn:microsoft.com/office/officeart/2016/7/layout/LinearBlockProcessNumbered"/>
    <dgm:cxn modelId="{62D8F242-C500-44D5-B8C5-F5C7C4985425}" type="presOf" srcId="{EE136704-C467-45A9-9F0E-FCDBD87750C6}" destId="{35B72976-C2A4-4434-82CD-249B47508BA4}" srcOrd="0" destOrd="0" presId="urn:microsoft.com/office/officeart/2016/7/layout/LinearBlockProcessNumbered"/>
    <dgm:cxn modelId="{BC086C47-B262-4A2A-9E43-8C9B0B1874B7}" type="presOf" srcId="{0BCDA371-11A6-429A-8876-5FCC86C9857A}" destId="{865DB5A5-3CBD-4BCF-9BE2-9A482D0D55BB}" srcOrd="0" destOrd="0" presId="urn:microsoft.com/office/officeart/2016/7/layout/LinearBlockProcessNumbered"/>
    <dgm:cxn modelId="{A2DDC26B-54B8-4226-9888-795B36670B02}" type="presOf" srcId="{27BAC311-8A60-4527-89E8-CC84F5638DEB}" destId="{58E8BF34-D572-411A-A371-09484CBCC7C5}" srcOrd="0" destOrd="0" presId="urn:microsoft.com/office/officeart/2016/7/layout/LinearBlockProcessNumbered"/>
    <dgm:cxn modelId="{53F38A54-BDEC-4548-9299-AA91C699CA7C}" srcId="{27BAC311-8A60-4527-89E8-CC84F5638DEB}" destId="{3409A82C-0B96-4EB3-8FDF-CD44D5994842}" srcOrd="4" destOrd="0" parTransId="{56CA3C00-C0F2-45EA-B7E7-2A17ECA02403}" sibTransId="{39D7F86B-1A11-4712-BE4D-D73AA9089A94}"/>
    <dgm:cxn modelId="{BCB8B555-F560-470D-AF9B-829AB25651A0}" srcId="{27BAC311-8A60-4527-89E8-CC84F5638DEB}" destId="{EE136704-C467-45A9-9F0E-FCDBD87750C6}" srcOrd="1" destOrd="0" parTransId="{2E227802-4606-410C-B34A-660CBD8AC3E9}" sibTransId="{F8045B74-562C-476F-A860-DD531C5B3F87}"/>
    <dgm:cxn modelId="{7139D878-CAC0-4C6D-86CC-BAD391656C8D}" type="presOf" srcId="{0C7471A0-E912-4BDA-9621-D6D64E9778CF}" destId="{2BF95014-04AF-4EC9-B8C7-8A17FA818A5F}" srcOrd="1" destOrd="0" presId="urn:microsoft.com/office/officeart/2016/7/layout/LinearBlockProcessNumbered"/>
    <dgm:cxn modelId="{2A11857A-0C7D-49D6-9648-1D7DD178619A}" type="presOf" srcId="{9403F8A3-4D33-4B59-AF61-F7AF70D9D5DE}" destId="{051807AE-9633-4A12-A6F4-1C9E53E59C83}" srcOrd="1" destOrd="0" presId="urn:microsoft.com/office/officeart/2016/7/layout/LinearBlockProcessNumbered"/>
    <dgm:cxn modelId="{22CD1B7F-B225-4264-A490-0A6AEFDA26FA}" type="presOf" srcId="{A8C6F876-5CC8-4ED2-988B-3BF9453FCAA4}" destId="{A905349E-5D01-47B8-9DD3-D84F032C4949}" srcOrd="0" destOrd="0" presId="urn:microsoft.com/office/officeart/2016/7/layout/LinearBlockProcessNumbered"/>
    <dgm:cxn modelId="{96F54989-A1B8-425C-A0DA-3E39C2203BE8}" type="presOf" srcId="{EE136704-C467-45A9-9F0E-FCDBD87750C6}" destId="{BCDCEC29-FFF5-4CE2-AA4E-076D694B9952}" srcOrd="1" destOrd="0" presId="urn:microsoft.com/office/officeart/2016/7/layout/LinearBlockProcessNumbered"/>
    <dgm:cxn modelId="{0BAD9D8B-3A20-475F-B28A-793C3444BC8B}" type="presOf" srcId="{22330FA6-2670-4A47-86A5-0131678B548F}" destId="{1CF4C87B-5839-42FF-8DB8-E98AE1BCEF64}" srcOrd="0" destOrd="0" presId="urn:microsoft.com/office/officeart/2016/7/layout/LinearBlockProcessNumbered"/>
    <dgm:cxn modelId="{DC4EC28F-92DD-48F6-8863-72D55E763287}" srcId="{27BAC311-8A60-4527-89E8-CC84F5638DEB}" destId="{0C7471A0-E912-4BDA-9621-D6D64E9778CF}" srcOrd="0" destOrd="0" parTransId="{3803C004-B2BD-4EC0-AF8C-0D925F7A0BC4}" sibTransId="{A8C6F876-5CC8-4ED2-988B-3BF9453FCAA4}"/>
    <dgm:cxn modelId="{C5545AA6-3BAF-45B2-A7A0-70C4B2FF10E1}" type="presOf" srcId="{0BCDA371-11A6-429A-8876-5FCC86C9857A}" destId="{638DBA6B-6DB3-409A-B099-2969351F37FE}" srcOrd="1" destOrd="0" presId="urn:microsoft.com/office/officeart/2016/7/layout/LinearBlockProcessNumbered"/>
    <dgm:cxn modelId="{365F6AA7-CE4D-446A-83D4-356468689F9C}" srcId="{27BAC311-8A60-4527-89E8-CC84F5638DEB}" destId="{9403F8A3-4D33-4B59-AF61-F7AF70D9D5DE}" srcOrd="2" destOrd="0" parTransId="{31EE9B54-596E-4006-A622-3036811770D0}" sibTransId="{22330FA6-2670-4A47-86A5-0131678B548F}"/>
    <dgm:cxn modelId="{67ABDBB1-E5AE-4BEA-8DE2-AC806CE22E5E}" type="presOf" srcId="{F8045B74-562C-476F-A860-DD531C5B3F87}" destId="{8DEAC3E0-5927-477E-ABCC-5F279316D099}" srcOrd="0" destOrd="0" presId="urn:microsoft.com/office/officeart/2016/7/layout/LinearBlockProcessNumbered"/>
    <dgm:cxn modelId="{447BFBB5-1F0E-441F-AC1F-85D3CB48A074}" type="presOf" srcId="{9403F8A3-4D33-4B59-AF61-F7AF70D9D5DE}" destId="{4F2FA694-3BD4-4315-84EE-719393AA4E87}" srcOrd="0" destOrd="0" presId="urn:microsoft.com/office/officeart/2016/7/layout/LinearBlockProcessNumbered"/>
    <dgm:cxn modelId="{EB3B7ABB-2224-4BD2-8FD2-C150BF03989C}" type="presOf" srcId="{42D454C9-86EB-4126-9692-26A0C0F08836}" destId="{1DD14B9F-9203-4843-8CB3-29561D90F213}" srcOrd="0" destOrd="0" presId="urn:microsoft.com/office/officeart/2016/7/layout/LinearBlockProcessNumbered"/>
    <dgm:cxn modelId="{259A53C1-8AA7-48F8-BCA9-DE3BB83B8518}" type="presParOf" srcId="{58E8BF34-D572-411A-A371-09484CBCC7C5}" destId="{555F0DB2-31B2-44CB-8ACC-1DF009111C6D}" srcOrd="0" destOrd="0" presId="urn:microsoft.com/office/officeart/2016/7/layout/LinearBlockProcessNumbered"/>
    <dgm:cxn modelId="{DA18BDF4-5BF5-4A47-8C66-16699F24987A}" type="presParOf" srcId="{555F0DB2-31B2-44CB-8ACC-1DF009111C6D}" destId="{598A9B2B-BB8F-4EC6-A1C4-0257DE39A299}" srcOrd="0" destOrd="0" presId="urn:microsoft.com/office/officeart/2016/7/layout/LinearBlockProcessNumbered"/>
    <dgm:cxn modelId="{262797AF-613D-4B52-8EEF-6261F6B6A641}" type="presParOf" srcId="{555F0DB2-31B2-44CB-8ACC-1DF009111C6D}" destId="{A905349E-5D01-47B8-9DD3-D84F032C4949}" srcOrd="1" destOrd="0" presId="urn:microsoft.com/office/officeart/2016/7/layout/LinearBlockProcessNumbered"/>
    <dgm:cxn modelId="{484C4EF9-253E-4A8E-AED8-75F0FE9B4E7C}" type="presParOf" srcId="{555F0DB2-31B2-44CB-8ACC-1DF009111C6D}" destId="{2BF95014-04AF-4EC9-B8C7-8A17FA818A5F}" srcOrd="2" destOrd="0" presId="urn:microsoft.com/office/officeart/2016/7/layout/LinearBlockProcessNumbered"/>
    <dgm:cxn modelId="{25539B52-F01F-4A01-AF4D-46CF44436C82}" type="presParOf" srcId="{58E8BF34-D572-411A-A371-09484CBCC7C5}" destId="{776624F6-F150-47AF-BE95-45C03EA2015E}" srcOrd="1" destOrd="0" presId="urn:microsoft.com/office/officeart/2016/7/layout/LinearBlockProcessNumbered"/>
    <dgm:cxn modelId="{B0565D38-7D33-4021-A749-8937B4BCADDA}" type="presParOf" srcId="{58E8BF34-D572-411A-A371-09484CBCC7C5}" destId="{2894EAB7-68E2-42BF-87E5-757D8A1B9B3D}" srcOrd="2" destOrd="0" presId="urn:microsoft.com/office/officeart/2016/7/layout/LinearBlockProcessNumbered"/>
    <dgm:cxn modelId="{9C04E261-66C2-4467-B7B9-3AE65E373B96}" type="presParOf" srcId="{2894EAB7-68E2-42BF-87E5-757D8A1B9B3D}" destId="{35B72976-C2A4-4434-82CD-249B47508BA4}" srcOrd="0" destOrd="0" presId="urn:microsoft.com/office/officeart/2016/7/layout/LinearBlockProcessNumbered"/>
    <dgm:cxn modelId="{35B159FB-0FF5-4595-911B-2102C17A7C70}" type="presParOf" srcId="{2894EAB7-68E2-42BF-87E5-757D8A1B9B3D}" destId="{8DEAC3E0-5927-477E-ABCC-5F279316D099}" srcOrd="1" destOrd="0" presId="urn:microsoft.com/office/officeart/2016/7/layout/LinearBlockProcessNumbered"/>
    <dgm:cxn modelId="{E71A1C7A-1B48-44E5-BEE1-1D38D9454FB5}" type="presParOf" srcId="{2894EAB7-68E2-42BF-87E5-757D8A1B9B3D}" destId="{BCDCEC29-FFF5-4CE2-AA4E-076D694B9952}" srcOrd="2" destOrd="0" presId="urn:microsoft.com/office/officeart/2016/7/layout/LinearBlockProcessNumbered"/>
    <dgm:cxn modelId="{8015523B-9561-4D48-850A-8843B3371BDA}" type="presParOf" srcId="{58E8BF34-D572-411A-A371-09484CBCC7C5}" destId="{5F182025-0D7A-46A4-BD67-D36F02DA2759}" srcOrd="3" destOrd="0" presId="urn:microsoft.com/office/officeart/2016/7/layout/LinearBlockProcessNumbered"/>
    <dgm:cxn modelId="{D0747415-36F5-43F5-9E0A-01E44157EF11}" type="presParOf" srcId="{58E8BF34-D572-411A-A371-09484CBCC7C5}" destId="{286E861D-4EEE-4ABC-8187-2CE7AAC9CB66}" srcOrd="4" destOrd="0" presId="urn:microsoft.com/office/officeart/2016/7/layout/LinearBlockProcessNumbered"/>
    <dgm:cxn modelId="{395266F6-C8FD-4F4C-8210-A7EFCE21D87D}" type="presParOf" srcId="{286E861D-4EEE-4ABC-8187-2CE7AAC9CB66}" destId="{4F2FA694-3BD4-4315-84EE-719393AA4E87}" srcOrd="0" destOrd="0" presId="urn:microsoft.com/office/officeart/2016/7/layout/LinearBlockProcessNumbered"/>
    <dgm:cxn modelId="{23E5D798-8590-4579-9464-2A691E7B9F8D}" type="presParOf" srcId="{286E861D-4EEE-4ABC-8187-2CE7AAC9CB66}" destId="{1CF4C87B-5839-42FF-8DB8-E98AE1BCEF64}" srcOrd="1" destOrd="0" presId="urn:microsoft.com/office/officeart/2016/7/layout/LinearBlockProcessNumbered"/>
    <dgm:cxn modelId="{5EBEB723-9ED4-4C5A-A639-7529C98EC18C}" type="presParOf" srcId="{286E861D-4EEE-4ABC-8187-2CE7AAC9CB66}" destId="{051807AE-9633-4A12-A6F4-1C9E53E59C83}" srcOrd="2" destOrd="0" presId="urn:microsoft.com/office/officeart/2016/7/layout/LinearBlockProcessNumbered"/>
    <dgm:cxn modelId="{D6276868-32A9-4A0A-AB5B-E5718DE2F5E0}" type="presParOf" srcId="{58E8BF34-D572-411A-A371-09484CBCC7C5}" destId="{6A83ABE8-A905-408D-B5D5-6F16B2E27CCC}" srcOrd="5" destOrd="0" presId="urn:microsoft.com/office/officeart/2016/7/layout/LinearBlockProcessNumbered"/>
    <dgm:cxn modelId="{535747CA-018E-4891-925B-43ED1862062C}" type="presParOf" srcId="{58E8BF34-D572-411A-A371-09484CBCC7C5}" destId="{76F037D8-0159-48E6-9934-2602820DE926}" srcOrd="6" destOrd="0" presId="urn:microsoft.com/office/officeart/2016/7/layout/LinearBlockProcessNumbered"/>
    <dgm:cxn modelId="{7922AD42-506C-4C5B-B4F5-E79CFC8D09C1}" type="presParOf" srcId="{76F037D8-0159-48E6-9934-2602820DE926}" destId="{865DB5A5-3CBD-4BCF-9BE2-9A482D0D55BB}" srcOrd="0" destOrd="0" presId="urn:microsoft.com/office/officeart/2016/7/layout/LinearBlockProcessNumbered"/>
    <dgm:cxn modelId="{7BD2B83B-93A5-4B74-8154-34D6381036F7}" type="presParOf" srcId="{76F037D8-0159-48E6-9934-2602820DE926}" destId="{1DD14B9F-9203-4843-8CB3-29561D90F213}" srcOrd="1" destOrd="0" presId="urn:microsoft.com/office/officeart/2016/7/layout/LinearBlockProcessNumbered"/>
    <dgm:cxn modelId="{DB59654A-0F31-47DD-A2F9-736345ED017B}" type="presParOf" srcId="{76F037D8-0159-48E6-9934-2602820DE926}" destId="{638DBA6B-6DB3-409A-B099-2969351F37FE}" srcOrd="2" destOrd="0" presId="urn:microsoft.com/office/officeart/2016/7/layout/LinearBlockProcessNumbered"/>
    <dgm:cxn modelId="{C69829BE-22D5-4AD8-B298-7451E4055255}" type="presParOf" srcId="{58E8BF34-D572-411A-A371-09484CBCC7C5}" destId="{B52F7EE7-6F4C-4FC5-8161-C78EB9780374}" srcOrd="7" destOrd="0" presId="urn:microsoft.com/office/officeart/2016/7/layout/LinearBlockProcessNumbered"/>
    <dgm:cxn modelId="{D86BAEAB-5C60-4172-A8CA-FEF480A358D0}" type="presParOf" srcId="{58E8BF34-D572-411A-A371-09484CBCC7C5}" destId="{CFEA2F1D-5911-49EA-A199-C909421C16F8}" srcOrd="8" destOrd="0" presId="urn:microsoft.com/office/officeart/2016/7/layout/LinearBlockProcessNumbered"/>
    <dgm:cxn modelId="{0B01E6B6-685D-40D1-8FE0-0F5029D2AB2C}" type="presParOf" srcId="{CFEA2F1D-5911-49EA-A199-C909421C16F8}" destId="{3B30754F-A515-4505-8A2C-844C4D05752D}" srcOrd="0" destOrd="0" presId="urn:microsoft.com/office/officeart/2016/7/layout/LinearBlockProcessNumbered"/>
    <dgm:cxn modelId="{55F6029D-FBBB-4A2F-B37A-79618CDBD9F4}" type="presParOf" srcId="{CFEA2F1D-5911-49EA-A199-C909421C16F8}" destId="{D515510B-EB57-4E64-9A36-848A35E11E85}" srcOrd="1" destOrd="0" presId="urn:microsoft.com/office/officeart/2016/7/layout/LinearBlockProcessNumbered"/>
    <dgm:cxn modelId="{3B01D7F7-36D3-464E-8FBA-75F18FEF8666}" type="presParOf" srcId="{CFEA2F1D-5911-49EA-A199-C909421C16F8}" destId="{F2F1B80F-62E6-4091-8DD2-4013FE3BC51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42138E-51A7-4D9E-A053-BF8CC001D30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3CE61B-AF45-48D4-B427-964C1DB862C4}">
      <dgm:prSet/>
      <dgm:spPr/>
      <dgm:t>
        <a:bodyPr/>
        <a:lstStyle/>
        <a:p>
          <a:r>
            <a:rPr lang="it-IT"/>
            <a:t>Per la realizzazione della prova sperimentale abbiamo operato nel seguente modo:</a:t>
          </a:r>
          <a:endParaRPr lang="en-US"/>
        </a:p>
      </dgm:t>
    </dgm:pt>
    <dgm:pt modelId="{CE2D6ADC-C398-4947-8978-6CD9DAC2B731}" type="parTrans" cxnId="{7D4D1A1F-50BA-49B3-ADAE-7DBE72E2C827}">
      <dgm:prSet/>
      <dgm:spPr/>
      <dgm:t>
        <a:bodyPr/>
        <a:lstStyle/>
        <a:p>
          <a:endParaRPr lang="en-US"/>
        </a:p>
      </dgm:t>
    </dgm:pt>
    <dgm:pt modelId="{6D202783-1812-4CEE-B11C-A2C974622B53}" type="sibTrans" cxnId="{7D4D1A1F-50BA-49B3-ADAE-7DBE72E2C827}">
      <dgm:prSet/>
      <dgm:spPr/>
      <dgm:t>
        <a:bodyPr/>
        <a:lstStyle/>
        <a:p>
          <a:endParaRPr lang="en-US"/>
        </a:p>
      </dgm:t>
    </dgm:pt>
    <dgm:pt modelId="{99C21286-2854-4A27-934A-4C8BA63F3576}">
      <dgm:prSet/>
      <dgm:spPr/>
      <dgm:t>
        <a:bodyPr/>
        <a:lstStyle/>
        <a:p>
          <a:r>
            <a:rPr lang="it-IT"/>
            <a:t>Posizionamento della scheda Arduino nel baricentro del veicolo</a:t>
          </a:r>
          <a:endParaRPr lang="en-US"/>
        </a:p>
      </dgm:t>
    </dgm:pt>
    <dgm:pt modelId="{DC26344C-7E3B-423F-A681-53274A0604BB}" type="parTrans" cxnId="{C177BDBA-B01B-4F64-9591-4A30CAE1801E}">
      <dgm:prSet/>
      <dgm:spPr/>
      <dgm:t>
        <a:bodyPr/>
        <a:lstStyle/>
        <a:p>
          <a:endParaRPr lang="en-US"/>
        </a:p>
      </dgm:t>
    </dgm:pt>
    <dgm:pt modelId="{2909C7D5-03BD-4B2A-B2DA-9B9C52900C45}" type="sibTrans" cxnId="{C177BDBA-B01B-4F64-9591-4A30CAE1801E}">
      <dgm:prSet/>
      <dgm:spPr/>
      <dgm:t>
        <a:bodyPr/>
        <a:lstStyle/>
        <a:p>
          <a:endParaRPr lang="en-US"/>
        </a:p>
      </dgm:t>
    </dgm:pt>
    <dgm:pt modelId="{BB2E2F39-AF36-48DA-AF5C-6BFD18511F10}" type="pres">
      <dgm:prSet presAssocID="{C742138E-51A7-4D9E-A053-BF8CC001D300}" presName="Name0" presStyleCnt="0">
        <dgm:presLayoutVars>
          <dgm:dir/>
          <dgm:animLvl val="lvl"/>
          <dgm:resizeHandles val="exact"/>
        </dgm:presLayoutVars>
      </dgm:prSet>
      <dgm:spPr/>
    </dgm:pt>
    <dgm:pt modelId="{647B8DF8-4A04-428D-9DCF-0212923B4AD5}" type="pres">
      <dgm:prSet presAssocID="{3D3CE61B-AF45-48D4-B427-964C1DB862C4}" presName="linNode" presStyleCnt="0"/>
      <dgm:spPr/>
    </dgm:pt>
    <dgm:pt modelId="{940E7393-0FF6-42EB-B252-49D9A3AF6C2D}" type="pres">
      <dgm:prSet presAssocID="{3D3CE61B-AF45-48D4-B427-964C1DB862C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7023316B-012C-4E1D-854C-5E940F529345}" type="pres">
      <dgm:prSet presAssocID="{6D202783-1812-4CEE-B11C-A2C974622B53}" presName="sp" presStyleCnt="0"/>
      <dgm:spPr/>
    </dgm:pt>
    <dgm:pt modelId="{FCC3790C-C5A7-4057-AD6E-030B958E2C7A}" type="pres">
      <dgm:prSet presAssocID="{99C21286-2854-4A27-934A-4C8BA63F3576}" presName="linNode" presStyleCnt="0"/>
      <dgm:spPr/>
    </dgm:pt>
    <dgm:pt modelId="{C9A0E0F2-5B72-484F-B6D3-1796D104D904}" type="pres">
      <dgm:prSet presAssocID="{99C21286-2854-4A27-934A-4C8BA63F3576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7D4D1A1F-50BA-49B3-ADAE-7DBE72E2C827}" srcId="{C742138E-51A7-4D9E-A053-BF8CC001D300}" destId="{3D3CE61B-AF45-48D4-B427-964C1DB862C4}" srcOrd="0" destOrd="0" parTransId="{CE2D6ADC-C398-4947-8978-6CD9DAC2B731}" sibTransId="{6D202783-1812-4CEE-B11C-A2C974622B53}"/>
    <dgm:cxn modelId="{41AB8D3C-8BC1-4892-AE0D-188E87314A18}" type="presOf" srcId="{99C21286-2854-4A27-934A-4C8BA63F3576}" destId="{C9A0E0F2-5B72-484F-B6D3-1796D104D904}" srcOrd="0" destOrd="0" presId="urn:microsoft.com/office/officeart/2005/8/layout/vList5"/>
    <dgm:cxn modelId="{46EB4D6C-741B-4B0F-A0FF-D8236CEAD7F6}" type="presOf" srcId="{3D3CE61B-AF45-48D4-B427-964C1DB862C4}" destId="{940E7393-0FF6-42EB-B252-49D9A3AF6C2D}" srcOrd="0" destOrd="0" presId="urn:microsoft.com/office/officeart/2005/8/layout/vList5"/>
    <dgm:cxn modelId="{0C3F1572-1DA5-4538-A287-3616D0ABCF0F}" type="presOf" srcId="{C742138E-51A7-4D9E-A053-BF8CC001D300}" destId="{BB2E2F39-AF36-48DA-AF5C-6BFD18511F10}" srcOrd="0" destOrd="0" presId="urn:microsoft.com/office/officeart/2005/8/layout/vList5"/>
    <dgm:cxn modelId="{C177BDBA-B01B-4F64-9591-4A30CAE1801E}" srcId="{C742138E-51A7-4D9E-A053-BF8CC001D300}" destId="{99C21286-2854-4A27-934A-4C8BA63F3576}" srcOrd="1" destOrd="0" parTransId="{DC26344C-7E3B-423F-A681-53274A0604BB}" sibTransId="{2909C7D5-03BD-4B2A-B2DA-9B9C52900C45}"/>
    <dgm:cxn modelId="{F4F04674-C4EB-4C2E-9922-6A68D89FBB2A}" type="presParOf" srcId="{BB2E2F39-AF36-48DA-AF5C-6BFD18511F10}" destId="{647B8DF8-4A04-428D-9DCF-0212923B4AD5}" srcOrd="0" destOrd="0" presId="urn:microsoft.com/office/officeart/2005/8/layout/vList5"/>
    <dgm:cxn modelId="{758DDE6B-BB0E-4159-AECD-595AD41274FC}" type="presParOf" srcId="{647B8DF8-4A04-428D-9DCF-0212923B4AD5}" destId="{940E7393-0FF6-42EB-B252-49D9A3AF6C2D}" srcOrd="0" destOrd="0" presId="urn:microsoft.com/office/officeart/2005/8/layout/vList5"/>
    <dgm:cxn modelId="{97C70507-C452-41C4-9F53-A7AF588DF0E0}" type="presParOf" srcId="{BB2E2F39-AF36-48DA-AF5C-6BFD18511F10}" destId="{7023316B-012C-4E1D-854C-5E940F529345}" srcOrd="1" destOrd="0" presId="urn:microsoft.com/office/officeart/2005/8/layout/vList5"/>
    <dgm:cxn modelId="{2074F743-56F9-453E-A686-19BDC21EDA53}" type="presParOf" srcId="{BB2E2F39-AF36-48DA-AF5C-6BFD18511F10}" destId="{FCC3790C-C5A7-4057-AD6E-030B958E2C7A}" srcOrd="2" destOrd="0" presId="urn:microsoft.com/office/officeart/2005/8/layout/vList5"/>
    <dgm:cxn modelId="{E633B664-1373-4EB2-98A4-16F5CBE61A9F}" type="presParOf" srcId="{FCC3790C-C5A7-4057-AD6E-030B958E2C7A}" destId="{C9A0E0F2-5B72-484F-B6D3-1796D104D90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A9B2B-BB8F-4EC6-A1C4-0257DE39A299}">
      <dsp:nvSpPr>
        <dsp:cNvPr id="0" name=""/>
        <dsp:cNvSpPr/>
      </dsp:nvSpPr>
      <dsp:spPr>
        <a:xfrm>
          <a:off x="6169" y="444095"/>
          <a:ext cx="1928462" cy="23141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89" tIns="0" rIns="19048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noProof="0" dirty="0"/>
            <a:t>Introduzione</a:t>
          </a:r>
        </a:p>
      </dsp:txBody>
      <dsp:txXfrm>
        <a:off x="6169" y="1369757"/>
        <a:ext cx="1928462" cy="1388493"/>
      </dsp:txXfrm>
    </dsp:sp>
    <dsp:sp modelId="{A905349E-5D01-47B8-9DD3-D84F032C4949}">
      <dsp:nvSpPr>
        <dsp:cNvPr id="0" name=""/>
        <dsp:cNvSpPr/>
      </dsp:nvSpPr>
      <dsp:spPr>
        <a:xfrm>
          <a:off x="6169" y="444095"/>
          <a:ext cx="1928462" cy="9256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89" tIns="165100" rIns="19048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200" kern="1200" noProof="0"/>
            <a:t>01</a:t>
          </a:r>
        </a:p>
      </dsp:txBody>
      <dsp:txXfrm>
        <a:off x="6169" y="444095"/>
        <a:ext cx="1928462" cy="925662"/>
      </dsp:txXfrm>
    </dsp:sp>
    <dsp:sp modelId="{35B72976-C2A4-4434-82CD-249B47508BA4}">
      <dsp:nvSpPr>
        <dsp:cNvPr id="0" name=""/>
        <dsp:cNvSpPr/>
      </dsp:nvSpPr>
      <dsp:spPr>
        <a:xfrm>
          <a:off x="2088908" y="444095"/>
          <a:ext cx="1928462" cy="2314155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89" tIns="0" rIns="19048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noProof="0" dirty="0"/>
            <a:t>Analisi</a:t>
          </a:r>
        </a:p>
      </dsp:txBody>
      <dsp:txXfrm>
        <a:off x="2088908" y="1369757"/>
        <a:ext cx="1928462" cy="1388493"/>
      </dsp:txXfrm>
    </dsp:sp>
    <dsp:sp modelId="{8DEAC3E0-5927-477E-ABCC-5F279316D099}">
      <dsp:nvSpPr>
        <dsp:cNvPr id="0" name=""/>
        <dsp:cNvSpPr/>
      </dsp:nvSpPr>
      <dsp:spPr>
        <a:xfrm>
          <a:off x="2088908" y="444095"/>
          <a:ext cx="1928462" cy="9256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89" tIns="165100" rIns="19048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200" kern="1200" noProof="0"/>
            <a:t>02</a:t>
          </a:r>
        </a:p>
      </dsp:txBody>
      <dsp:txXfrm>
        <a:off x="2088908" y="444095"/>
        <a:ext cx="1928462" cy="925662"/>
      </dsp:txXfrm>
    </dsp:sp>
    <dsp:sp modelId="{4F2FA694-3BD4-4315-84EE-719393AA4E87}">
      <dsp:nvSpPr>
        <dsp:cNvPr id="0" name=""/>
        <dsp:cNvSpPr/>
      </dsp:nvSpPr>
      <dsp:spPr>
        <a:xfrm>
          <a:off x="4171648" y="444095"/>
          <a:ext cx="1928462" cy="2314155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89" tIns="0" rIns="19048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noProof="0" dirty="0"/>
            <a:t>Modello matematico</a:t>
          </a:r>
        </a:p>
      </dsp:txBody>
      <dsp:txXfrm>
        <a:off x="4171648" y="1369757"/>
        <a:ext cx="1928462" cy="1388493"/>
      </dsp:txXfrm>
    </dsp:sp>
    <dsp:sp modelId="{1CF4C87B-5839-42FF-8DB8-E98AE1BCEF64}">
      <dsp:nvSpPr>
        <dsp:cNvPr id="0" name=""/>
        <dsp:cNvSpPr/>
      </dsp:nvSpPr>
      <dsp:spPr>
        <a:xfrm>
          <a:off x="4171648" y="444095"/>
          <a:ext cx="1928462" cy="9256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89" tIns="165100" rIns="19048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200" kern="1200" noProof="0"/>
            <a:t>03</a:t>
          </a:r>
        </a:p>
      </dsp:txBody>
      <dsp:txXfrm>
        <a:off x="4171648" y="444095"/>
        <a:ext cx="1928462" cy="925662"/>
      </dsp:txXfrm>
    </dsp:sp>
    <dsp:sp modelId="{865DB5A5-3CBD-4BCF-9BE2-9A482D0D55BB}">
      <dsp:nvSpPr>
        <dsp:cNvPr id="0" name=""/>
        <dsp:cNvSpPr/>
      </dsp:nvSpPr>
      <dsp:spPr>
        <a:xfrm>
          <a:off x="6254388" y="444095"/>
          <a:ext cx="1928462" cy="2314155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89" tIns="0" rIns="19048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noProof="0" dirty="0"/>
            <a:t>Confronto</a:t>
          </a:r>
        </a:p>
      </dsp:txBody>
      <dsp:txXfrm>
        <a:off x="6254388" y="1369757"/>
        <a:ext cx="1928462" cy="1388493"/>
      </dsp:txXfrm>
    </dsp:sp>
    <dsp:sp modelId="{1DD14B9F-9203-4843-8CB3-29561D90F213}">
      <dsp:nvSpPr>
        <dsp:cNvPr id="0" name=""/>
        <dsp:cNvSpPr/>
      </dsp:nvSpPr>
      <dsp:spPr>
        <a:xfrm>
          <a:off x="6254388" y="444095"/>
          <a:ext cx="1928462" cy="9256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89" tIns="165100" rIns="19048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200" kern="1200" noProof="0"/>
            <a:t>04</a:t>
          </a:r>
        </a:p>
      </dsp:txBody>
      <dsp:txXfrm>
        <a:off x="6254388" y="444095"/>
        <a:ext cx="1928462" cy="925662"/>
      </dsp:txXfrm>
    </dsp:sp>
    <dsp:sp modelId="{3B30754F-A515-4505-8A2C-844C4D05752D}">
      <dsp:nvSpPr>
        <dsp:cNvPr id="0" name=""/>
        <dsp:cNvSpPr/>
      </dsp:nvSpPr>
      <dsp:spPr>
        <a:xfrm>
          <a:off x="8337128" y="444095"/>
          <a:ext cx="1928462" cy="231415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89" tIns="0" rIns="19048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noProof="0" dirty="0"/>
            <a:t>Conclusioni </a:t>
          </a:r>
        </a:p>
      </dsp:txBody>
      <dsp:txXfrm>
        <a:off x="8337128" y="1369757"/>
        <a:ext cx="1928462" cy="1388493"/>
      </dsp:txXfrm>
    </dsp:sp>
    <dsp:sp modelId="{D515510B-EB57-4E64-9A36-848A35E11E85}">
      <dsp:nvSpPr>
        <dsp:cNvPr id="0" name=""/>
        <dsp:cNvSpPr/>
      </dsp:nvSpPr>
      <dsp:spPr>
        <a:xfrm>
          <a:off x="8337128" y="444095"/>
          <a:ext cx="1928462" cy="9256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89" tIns="165100" rIns="19048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05</a:t>
          </a:r>
        </a:p>
      </dsp:txBody>
      <dsp:txXfrm>
        <a:off x="8337128" y="444095"/>
        <a:ext cx="1928462" cy="9256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0E7393-0FF6-42EB-B252-49D9A3AF6C2D}">
      <dsp:nvSpPr>
        <dsp:cNvPr id="0" name=""/>
        <dsp:cNvSpPr/>
      </dsp:nvSpPr>
      <dsp:spPr>
        <a:xfrm>
          <a:off x="3364992" y="53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Per la realizzazione della prova sperimentale abbiamo operato nel seguente modo:</a:t>
          </a:r>
          <a:endParaRPr lang="en-US" sz="2600" kern="1200"/>
        </a:p>
      </dsp:txBody>
      <dsp:txXfrm>
        <a:off x="3468606" y="103667"/>
        <a:ext cx="3578388" cy="1915324"/>
      </dsp:txXfrm>
    </dsp:sp>
    <dsp:sp modelId="{C9A0E0F2-5B72-484F-B6D3-1796D104D904}">
      <dsp:nvSpPr>
        <dsp:cNvPr id="0" name=""/>
        <dsp:cNvSpPr/>
      </dsp:nvSpPr>
      <dsp:spPr>
        <a:xfrm>
          <a:off x="3364992" y="2228732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Posizionamento della scheda Arduino nel baricentro del veicolo</a:t>
          </a:r>
          <a:endParaRPr lang="en-US" sz="2600" kern="1200"/>
        </a:p>
      </dsp:txBody>
      <dsp:txXfrm>
        <a:off x="3468606" y="2332346"/>
        <a:ext cx="3578388" cy="191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343ADD-5227-9AA5-8AB2-839AA1E81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88D90E5-AC3A-A61E-1499-1050E2321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D807BF-8904-36CD-CD5C-201652B4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D25663-7CFB-9CC6-63CE-06124283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FA727F-BCC1-D4CD-D37B-BB1A770F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8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BB69C5-02A8-88B4-8502-B1407E8B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E8E2C1-6FFE-017F-BCEB-EB491FBEB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1D7E3B-C12F-3A74-58FE-F1EC9586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332E47-F83D-1EB3-CBE7-2B52FAE1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0184F2-3A81-F4F4-1940-4BF993A9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5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487C02-8D87-3684-3ECE-1462C0CF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0495DC-286C-D822-5CC1-35360012C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65C279-54E5-806F-4ED2-45893621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697A85-B149-BBF5-2733-945439BA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C9032A8-5FE8-F9CF-0238-37671579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5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A06A77-E6B5-2CB7-26D6-B36F9873C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103F85-267A-1FD4-5726-458075251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920316F-06B7-93F1-F760-53785E4E9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708428F-994C-ABC7-EC27-C54ADE81D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9206608-48AF-E0AD-2425-BC5402678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18EF5B8-BCCB-1F08-2ADE-4F333241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3AEC92-DD05-8656-40B6-022C2D5E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482F16-469E-0CFF-F485-A7E5DBDE8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9D9704-0381-AC85-5A83-54B00033C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13EA743-963E-089A-AC20-FDAEDABCE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342CCA9-B310-C29B-99BE-A661A73E6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19437EC-41A4-E40C-546C-186E9B1EB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AA4EAE-0408-BFFE-6294-580DBD3A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4BF3394-0132-A429-B926-194C7F8F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9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AE9269-43F7-EF38-E264-02798799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7812B1E-1FD7-835E-24F9-1DB68914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815038C-51FB-C5D9-2DD7-C08A8F8FC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EA30BB-D676-46AC-B083-FCDEA12C1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3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7D4BF23-EAA5-BBC2-258D-DA741574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E35B34A-78C7-2166-5772-19108FE7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69F8506-7CE3-46BE-54AC-6C3DD9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7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03BC31-651E-01CB-8DCF-D294E7AAD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282523-7B5B-560F-721F-B1108D0E3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01344A8-45B6-0AC5-7253-7FC98830E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B29DA2-D400-03B5-B5DF-8F1401B88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352D743-5683-B076-62F9-2B99A207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38C1AD-04D0-5E32-41BC-C60ED6F89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FB5C86-5D56-672C-5AD0-A8EF14A19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DFBCACF-B979-241C-C7DE-F76E0AE57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327585F-654D-CCAD-2A23-BBFCCD0F5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124023D-14ED-F042-977B-C1755C8C8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BEF6F9D-E98C-02C6-3338-CCDAB4A3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722FCFA-8662-6149-E77E-1D071D05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2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455AD6-DDBC-95B7-3047-D8C2EAFF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BE0B7C7-57CF-9330-F51D-6E6D25518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37CA2B-383B-6B0D-2BCF-7D5B9BDF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02C44F-ED7C-2146-27F4-5C0FD97D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236C43-DFBC-3843-9D0A-2AC70E557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83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5AD89C4-6E9D-9456-170E-BC3E0430D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011A4E-B3A7-F09F-B5C3-4E29DC4DC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20F02D-5DD2-10FC-6B8D-CC139DD7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D452F7-F5F9-093C-8AA7-9C9E55E0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805BEE-902A-4852-75C4-24016822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5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6351BC5-11FE-9BEB-4734-A8CEBDE3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E6B8EB-2B85-AC1F-A29B-B4CEBA65C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837989-5950-E457-AEF0-3B3938878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3747E8-92F8-77FB-777E-D8717A98C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BDEA5A-D184-4399-8A25-314C57ECF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9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B1934EA-02F5-F293-664D-2AAFE81DA0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9661" b="607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D6207D-2F00-E0EC-72EC-66F69A6CCC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noProof="0">
                <a:solidFill>
                  <a:schemeClr val="tx1"/>
                </a:solidFill>
              </a:rPr>
              <a:t>Meccanica delle vibrazioni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6F86A-7D5C-FF43-4F90-725641462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1200" dirty="0">
                <a:solidFill>
                  <a:schemeClr val="tx1"/>
                </a:solidFill>
              </a:rPr>
              <a:t>Rosi Federico</a:t>
            </a:r>
          </a:p>
          <a:p>
            <a:r>
              <a:rPr lang="it-IT" sz="1200" noProof="0" dirty="0">
                <a:solidFill>
                  <a:schemeClr val="tx1"/>
                </a:solidFill>
              </a:rPr>
              <a:t>R</a:t>
            </a:r>
            <a:r>
              <a:rPr lang="it-IT" sz="1200" dirty="0" err="1">
                <a:solidFill>
                  <a:schemeClr val="tx1"/>
                </a:solidFill>
              </a:rPr>
              <a:t>icciotti</a:t>
            </a:r>
            <a:r>
              <a:rPr lang="it-IT" sz="1200" dirty="0">
                <a:solidFill>
                  <a:schemeClr val="tx1"/>
                </a:solidFill>
              </a:rPr>
              <a:t> Simone</a:t>
            </a:r>
          </a:p>
          <a:p>
            <a:r>
              <a:rPr lang="it-IT" sz="1200" noProof="0" dirty="0">
                <a:solidFill>
                  <a:schemeClr val="tx1"/>
                </a:solidFill>
              </a:rPr>
              <a:t>Di Giamberardino Daniele</a:t>
            </a:r>
          </a:p>
        </p:txBody>
      </p:sp>
    </p:spTree>
    <p:extLst>
      <p:ext uri="{BB962C8B-B14F-4D97-AF65-F5344CB8AC3E}">
        <p14:creationId xmlns:p14="http://schemas.microsoft.com/office/powerpoint/2010/main" val="3177957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0308-27BA-A090-8D19-E22236EF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477" y="4599160"/>
            <a:ext cx="11079804" cy="13580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it-IT" sz="4400" noProof="0">
                <a:solidFill>
                  <a:schemeClr val="bg1"/>
                </a:solidFill>
              </a:rPr>
              <a:t>Indice </a:t>
            </a:r>
            <a:endParaRPr lang="it-IT" sz="4400" noProof="0" dirty="0">
              <a:solidFill>
                <a:schemeClr val="bg1"/>
              </a:solidFill>
            </a:endParaRPr>
          </a:p>
        </p:txBody>
      </p:sp>
      <p:graphicFrame>
        <p:nvGraphicFramePr>
          <p:cNvPr id="55" name="TextBox 3">
            <a:extLst>
              <a:ext uri="{FF2B5EF4-FFF2-40B4-BE49-F238E27FC236}">
                <a16:creationId xmlns:a16="http://schemas.microsoft.com/office/drawing/2014/main" id="{BDCE5E97-3367-C1C6-F4AF-A65C295B0D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9912614"/>
              </p:ext>
            </p:extLst>
          </p:nvPr>
        </p:nvGraphicFramePr>
        <p:xfrm>
          <a:off x="960120" y="640080"/>
          <a:ext cx="10271760" cy="3202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3601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>
            <a:extLst>
              <a:ext uri="{FF2B5EF4-FFF2-40B4-BE49-F238E27FC236}">
                <a16:creationId xmlns:a16="http://schemas.microsoft.com/office/drawing/2014/main" id="{90BD1D32-9C5D-DD81-9133-97450938CF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4F5076-8BF1-8C94-6C58-C3A38A4C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864108"/>
            <a:ext cx="6367940" cy="5120639"/>
          </a:xfrm>
        </p:spPr>
        <p:txBody>
          <a:bodyPr>
            <a:normAutofit/>
          </a:bodyPr>
          <a:lstStyle/>
          <a:p>
            <a:r>
              <a:rPr lang="it-IT" sz="7200" noProof="0">
                <a:ln w="15875">
                  <a:solidFill>
                    <a:srgbClr val="FFFFFF"/>
                  </a:solidFill>
                </a:ln>
                <a:noFill/>
              </a:rPr>
              <a:t>Introduzione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63735-F313-578D-00EE-334CA533B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0207" y="864108"/>
            <a:ext cx="3947418" cy="5120640"/>
          </a:xfrm>
        </p:spPr>
        <p:txBody>
          <a:bodyPr>
            <a:normAutofit fontScale="77500" lnSpcReduction="20000"/>
          </a:bodyPr>
          <a:lstStyle/>
          <a:p>
            <a:r>
              <a:rPr lang="it-IT" noProof="0">
                <a:solidFill>
                  <a:schemeClr val="tx1"/>
                </a:solidFill>
              </a:rPr>
              <a:t>Il progetto prevede lo studio e le analisi delle vibrazioni di un</a:t>
            </a:r>
            <a:r>
              <a:rPr lang="it-IT">
                <a:solidFill>
                  <a:schemeClr val="tx1"/>
                </a:solidFill>
              </a:rPr>
              <a:t> veicolo ibrido</a:t>
            </a:r>
            <a:r>
              <a:rPr lang="it-IT" noProof="0">
                <a:solidFill>
                  <a:schemeClr val="tx1"/>
                </a:solidFill>
              </a:rPr>
              <a:t> su diversi terreni. </a:t>
            </a:r>
          </a:p>
          <a:p>
            <a:r>
              <a:rPr lang="it-IT" noProof="0">
                <a:solidFill>
                  <a:schemeClr val="tx1"/>
                </a:solidFill>
              </a:rPr>
              <a:t>Per l’acquisizione dei dati è stato utilizzato ARDUINO UNO, posizionato nel baricentro del veicolo, questo ci consente di assumere l’automobile come una massa associata a un solo ammortizzatore.</a:t>
            </a:r>
          </a:p>
          <a:p>
            <a:r>
              <a:rPr lang="it-IT" noProof="0">
                <a:solidFill>
                  <a:schemeClr val="tx1"/>
                </a:solidFill>
              </a:rPr>
              <a:t>Come IMU è stata utilizzata una MPU6050, dati i costi ridotti e la facilità di reperimento.</a:t>
            </a:r>
          </a:p>
          <a:p>
            <a:r>
              <a:rPr lang="it-IT" noProof="0">
                <a:solidFill>
                  <a:schemeClr val="tx1"/>
                </a:solidFill>
              </a:rPr>
              <a:t>Per le simulazioni dei modelli abbiamo utilizzato </a:t>
            </a:r>
            <a:r>
              <a:rPr lang="it-IT">
                <a:solidFill>
                  <a:schemeClr val="tx1"/>
                </a:solidFill>
              </a:rPr>
              <a:t>S</a:t>
            </a:r>
            <a:r>
              <a:rPr lang="it-IT" noProof="0">
                <a:solidFill>
                  <a:schemeClr val="tx1"/>
                </a:solidFill>
              </a:rPr>
              <a:t>imulink.</a:t>
            </a:r>
          </a:p>
        </p:txBody>
      </p:sp>
    </p:spTree>
    <p:extLst>
      <p:ext uri="{BB962C8B-B14F-4D97-AF65-F5344CB8AC3E}">
        <p14:creationId xmlns:p14="http://schemas.microsoft.com/office/powerpoint/2010/main" val="1689475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magine che contiene sfocatura, luce, blu, illuminazione&#10;&#10;Il contenuto generato dall'IA potrebbe non essere corretto.">
            <a:extLst>
              <a:ext uri="{FF2B5EF4-FFF2-40B4-BE49-F238E27FC236}">
                <a16:creationId xmlns:a16="http://schemas.microsoft.com/office/drawing/2014/main" id="{D88239BD-9973-4C35-AE36-79758FA49BC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537" b="204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612E0-C488-F0B5-9217-3AE60B125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SET-UP Sperimentale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15CE99-9D45-8BF5-C5A6-84F91BA318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7624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415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egnaposto contenuto 4" descr="Immagine che contiene Ricambio auto, interno, automobile&#10;&#10;Il contenuto generato dall'IA potrebbe non essere corretto.">
            <a:extLst>
              <a:ext uri="{FF2B5EF4-FFF2-40B4-BE49-F238E27FC236}">
                <a16:creationId xmlns:a16="http://schemas.microsoft.com/office/drawing/2014/main" id="{B4E19F27-D50B-08EB-6C6E-1774E27EE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150" y="457200"/>
            <a:ext cx="44577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34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60A8F-82D5-1BC5-71F8-041687EB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5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5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5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176695-527F-FDB6-8C5C-DF2FA7252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Arduino</a:t>
            </a:r>
          </a:p>
        </p:txBody>
      </p:sp>
      <p:pic>
        <p:nvPicPr>
          <p:cNvPr id="9" name="Immagine 8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4869B9CB-C54C-66A3-162C-E55659AE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40" y="-7086"/>
            <a:ext cx="7940005" cy="687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65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DBF5E-A7D8-31EC-E898-CA2527054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D6656-6CED-761E-58B5-17F29117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Arduino</a:t>
            </a:r>
          </a:p>
        </p:txBody>
      </p:sp>
      <p:pic>
        <p:nvPicPr>
          <p:cNvPr id="5" name="Immagine 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9737FE34-4DC9-E432-31F9-7F6B79FD7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39" y="0"/>
            <a:ext cx="7933859" cy="685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3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8F17-07D3-F976-32BE-EA03D1F6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94CE55-53F1-8B04-E2E7-824BBBAA7DB3}"/>
              </a:ext>
            </a:extLst>
          </p:cNvPr>
          <p:cNvSpPr/>
          <p:nvPr/>
        </p:nvSpPr>
        <p:spPr>
          <a:xfrm>
            <a:off x="0" y="387458"/>
            <a:ext cx="3626603" cy="5966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7E3D32-FF3A-0126-9E66-D503D8156C90}"/>
              </a:ext>
            </a:extLst>
          </p:cNvPr>
          <p:cNvSpPr/>
          <p:nvPr/>
        </p:nvSpPr>
        <p:spPr>
          <a:xfrm>
            <a:off x="6848796" y="1173996"/>
            <a:ext cx="4541004" cy="439376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Matlab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CE37AE4-D2CC-EA38-3037-483CA7A33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445576"/>
            <a:ext cx="6711144" cy="596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90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9D005-A6AF-8384-EE82-9C424C87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306739F-8722-DB87-E52B-65B7B4239AE6}"/>
              </a:ext>
            </a:extLst>
          </p:cNvPr>
          <p:cNvSpPr/>
          <p:nvPr/>
        </p:nvSpPr>
        <p:spPr>
          <a:xfrm>
            <a:off x="748252" y="105329"/>
            <a:ext cx="10453178" cy="1065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900" spc="-1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Modello</a:t>
            </a:r>
            <a:r>
              <a:rPr lang="en-US" sz="5900" spc="-1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Simulink</a:t>
            </a:r>
            <a:endParaRPr lang="en-US" sz="5900" spc="-1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4E313AC-F8EB-C8C8-38BE-681EF849B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697" y="1522468"/>
            <a:ext cx="9952733" cy="501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4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75C116-67D4-BA3A-83C4-BE4067D7B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353" y="366740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dirty="0" err="1">
                <a:solidFill>
                  <a:schemeClr val="tx2"/>
                </a:solidFill>
              </a:rPr>
              <a:t>Questo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blocco</a:t>
            </a:r>
            <a:r>
              <a:rPr lang="en-US" sz="1800" dirty="0">
                <a:solidFill>
                  <a:schemeClr val="tx2"/>
                </a:solidFill>
              </a:rPr>
              <a:t> ci </a:t>
            </a:r>
            <a:r>
              <a:rPr lang="en-US" sz="1800" dirty="0" err="1">
                <a:solidFill>
                  <a:schemeClr val="tx2"/>
                </a:solidFill>
              </a:rPr>
              <a:t>permette</a:t>
            </a:r>
            <a:r>
              <a:rPr lang="en-US" sz="1800" dirty="0">
                <a:solidFill>
                  <a:schemeClr val="tx2"/>
                </a:solidFill>
              </a:rPr>
              <a:t> di </a:t>
            </a:r>
            <a:r>
              <a:rPr lang="en-US" sz="1800" dirty="0" err="1">
                <a:solidFill>
                  <a:schemeClr val="tx2"/>
                </a:solidFill>
              </a:rPr>
              <a:t>caricare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i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dati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eleborati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usando</a:t>
            </a:r>
            <a:r>
              <a:rPr lang="en-US" sz="1800" dirty="0">
                <a:solidFill>
                  <a:schemeClr val="tx2"/>
                </a:solidFill>
              </a:rPr>
              <a:t> il </a:t>
            </a:r>
            <a:r>
              <a:rPr lang="en-US" sz="1800" dirty="0" err="1">
                <a:solidFill>
                  <a:schemeClr val="tx2"/>
                </a:solidFill>
              </a:rPr>
              <a:t>codice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matlab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precedente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 err="1">
                <a:solidFill>
                  <a:schemeClr val="tx2"/>
                </a:solidFill>
              </a:rPr>
              <a:t>Passiamo</a:t>
            </a:r>
            <a:r>
              <a:rPr lang="en-US" sz="1800" dirty="0">
                <a:solidFill>
                  <a:schemeClr val="tx2"/>
                </a:solidFill>
              </a:rPr>
              <a:t> un </a:t>
            </a:r>
            <a:r>
              <a:rPr lang="en-US" sz="1800" dirty="0" err="1">
                <a:solidFill>
                  <a:schemeClr val="tx2"/>
                </a:solidFill>
              </a:rPr>
              <a:t>dato</a:t>
            </a:r>
            <a:r>
              <a:rPr lang="en-US" sz="1800" dirty="0">
                <a:solidFill>
                  <a:schemeClr val="tx2"/>
                </a:solidFill>
              </a:rPr>
              <a:t> Array in cui </a:t>
            </a:r>
            <a:r>
              <a:rPr lang="en-US" sz="1800" dirty="0" err="1">
                <a:solidFill>
                  <a:schemeClr val="tx2"/>
                </a:solidFill>
              </a:rPr>
              <a:t>nella</a:t>
            </a:r>
            <a:r>
              <a:rPr lang="en-US" sz="1800" dirty="0">
                <a:solidFill>
                  <a:schemeClr val="tx2"/>
                </a:solidFill>
              </a:rPr>
              <a:t> prima Colonna </a:t>
            </a:r>
            <a:r>
              <a:rPr lang="en-US" sz="1800" dirty="0" err="1">
                <a:solidFill>
                  <a:schemeClr val="tx2"/>
                </a:solidFill>
              </a:rPr>
              <a:t>abbiamo</a:t>
            </a:r>
            <a:r>
              <a:rPr lang="en-US" sz="1800" dirty="0">
                <a:solidFill>
                  <a:schemeClr val="tx2"/>
                </a:solidFill>
              </a:rPr>
              <a:t> il tempo e </a:t>
            </a:r>
            <a:r>
              <a:rPr lang="en-US" sz="1800" dirty="0" err="1">
                <a:solidFill>
                  <a:schemeClr val="tx2"/>
                </a:solidFill>
              </a:rPr>
              <a:t>nella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seconda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l’accelerazione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misurata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Segnaposto contenuto 4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9E17CA8E-E0D2-7C71-3CE8-05797B1D6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821" y="1955955"/>
            <a:ext cx="3661831" cy="296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73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DEE50AC-5CDF-2A39-2F38-92FC5F36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7" y="248038"/>
            <a:ext cx="1179871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Modello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SIMSCAPE 1-DOF</a:t>
            </a:r>
          </a:p>
        </p:txBody>
      </p:sp>
      <p:pic>
        <p:nvPicPr>
          <p:cNvPr id="5" name="Segnaposto contenuto 4" descr="Immagine che contiene diagramma, linea, Pian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D8216FAE-483C-8C06-1C43-35664EB59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578197"/>
            <a:ext cx="11327549" cy="32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16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BAC6140-A6F0-F2A8-E3A6-6373295E8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248038"/>
            <a:ext cx="1181837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Grafico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Accelerazione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(Strada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Liscia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5" name="Segnaposto contenuto 4" descr="Immagine che contiene schermata, line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CA47E710-44B7-021D-CE37-0FEE01850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76" y="1655276"/>
            <a:ext cx="11080176" cy="515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6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60ED84-C255-B5AC-6F3A-E24E4EA4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7" y="248038"/>
            <a:ext cx="115279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Grafico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Accelerazione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(Strada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Sterrata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A6B3C5C-3D52-807B-2D30-3FAC9FD38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876" y="1655276"/>
            <a:ext cx="11030071" cy="512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891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DC8DE43-31FE-EFA0-7D04-D5F806B60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0" y="248038"/>
            <a:ext cx="1176921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Modello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SIMSCAPE 2-DOF</a:t>
            </a:r>
          </a:p>
        </p:txBody>
      </p:sp>
      <p:pic>
        <p:nvPicPr>
          <p:cNvPr id="5" name="Segnaposto contenuto 4" descr="Immagine che contiene diagramma, linea, Pian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1DD0A3BB-3BA9-8EE6-2369-F7157F735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295009"/>
            <a:ext cx="11327549" cy="379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72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459DD-CCFC-51FB-9D19-C274AB67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29564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Grafico</a:t>
            </a:r>
            <a:r>
              <a:rPr lang="en-US" sz="37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Accelerazione_2DOF(Strada </a:t>
            </a:r>
            <a:r>
              <a:rPr lang="en-US" sz="37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Liscia</a:t>
            </a:r>
            <a:r>
              <a:rPr lang="en-US" sz="37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 </a:t>
            </a:r>
          </a:p>
        </p:txBody>
      </p:sp>
      <p:pic>
        <p:nvPicPr>
          <p:cNvPr id="5" name="Immagine 4" descr="Immagine che contiene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855A3193-2F9D-DA26-6100-BA9D07F67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2" y="1627998"/>
            <a:ext cx="10576945" cy="515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72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55C3261-3FFB-C1C4-921B-E1DF1935F152}"/>
              </a:ext>
            </a:extLst>
          </p:cNvPr>
          <p:cNvSpPr txBox="1"/>
          <p:nvPr/>
        </p:nvSpPr>
        <p:spPr>
          <a:xfrm>
            <a:off x="127819" y="248038"/>
            <a:ext cx="11887200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Grafico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Posizione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/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Velocità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Modello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SIMSCAPE</a:t>
            </a:r>
            <a:r>
              <a:rPr lang="en-US" sz="37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(Strada </a:t>
            </a:r>
            <a:r>
              <a:rPr lang="en-US" sz="37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Liscia</a:t>
            </a:r>
            <a:r>
              <a:rPr lang="en-US" sz="37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Segnaposto contenuto 4" descr="Immagine che contiene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04592C5D-6CF1-C9DF-7C61-740D9F9A1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606" y="1599901"/>
            <a:ext cx="11159613" cy="521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67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59D0517-4736-51DA-B67E-783F904F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30547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Grafico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Accelerazione_2DOF(Strada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Sterrata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C55F9550-3DCE-DBEB-FCD3-1338F4957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921" y="1655276"/>
            <a:ext cx="10912727" cy="512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16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B4D553C-8412-03C8-1DD5-2452B4092683}"/>
              </a:ext>
            </a:extLst>
          </p:cNvPr>
          <p:cNvSpPr txBox="1"/>
          <p:nvPr/>
        </p:nvSpPr>
        <p:spPr>
          <a:xfrm>
            <a:off x="127819" y="248038"/>
            <a:ext cx="1197569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Grafico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Posizione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/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Velocità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Modello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SIMSCAPE(Strada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Sterrata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5" name="Segnaposto contenuto 4" descr="Immagine che contiene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8DF6C0AF-9DEF-21FA-54C8-CDBE5C3EA8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935" y="1632052"/>
            <a:ext cx="11080011" cy="515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61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74BD1-8E4E-8CBF-6B31-DAD2D7BB4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248038"/>
            <a:ext cx="1163682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</a:t>
            </a:r>
            <a:r>
              <a:rPr lang="en-US" sz="37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ominio</a:t>
            </a:r>
            <a:r>
              <a:rPr lang="en-US" sz="37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della</a:t>
            </a:r>
            <a:r>
              <a:rPr lang="en-US" sz="37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frequenza</a:t>
            </a:r>
            <a:r>
              <a:rPr lang="en-US" sz="37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(Strada </a:t>
            </a:r>
            <a:r>
              <a:rPr lang="en-US" sz="37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Sterrata</a:t>
            </a:r>
            <a:r>
              <a:rPr lang="en-US" sz="37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)(2DOF)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A5302CD-F2BB-4EFE-8ECC-0DA94FCD0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516" y="1655276"/>
            <a:ext cx="8187415" cy="511915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EB37C37-F922-00DD-2E10-D5921303C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609" y="2459277"/>
            <a:ext cx="4096322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38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F77419E-F18E-81F3-AD60-3651ADF6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1" y="248038"/>
            <a:ext cx="1177904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Dominio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della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frequenza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(Strada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Sterrata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)(1DOF)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A24678D-AC83-E8DA-5DA1-66F801D3B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8914" y="1591069"/>
            <a:ext cx="7848600" cy="523894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6F09FF7-9D9A-282A-A983-ADC188E3B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764" y="2459277"/>
            <a:ext cx="4096322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12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CF701A9-33C7-2663-4EF7-5DAD8966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62" y="1960322"/>
            <a:ext cx="3936642" cy="3368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Dominio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della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frequenza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(Strada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Liscia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)(2DOF)</a:t>
            </a:r>
          </a:p>
        </p:txBody>
      </p:sp>
      <p:pic>
        <p:nvPicPr>
          <p:cNvPr id="5" name="Segnaposto contenuto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D8268BAE-8B70-DC1A-495B-6B3068CBB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0566" y="845421"/>
            <a:ext cx="7949472" cy="534890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BB4936D-5B2D-7DF7-3ED2-003151E68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716" y="1731690"/>
            <a:ext cx="4096322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91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330DE82-05E6-1016-AB9E-53167B991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Dominio della frequenza(Strada Liscia)(1DOF)</a:t>
            </a:r>
          </a:p>
        </p:txBody>
      </p:sp>
      <p:pic>
        <p:nvPicPr>
          <p:cNvPr id="5" name="Segnaposto contenuto 4" descr="Immagine che contiene testo, schermata, Diagramma, software&#10;&#10;Il contenuto generato dall'IA potrebbe non essere corretto.">
            <a:extLst>
              <a:ext uri="{FF2B5EF4-FFF2-40B4-BE49-F238E27FC236}">
                <a16:creationId xmlns:a16="http://schemas.microsoft.com/office/drawing/2014/main" id="{BB528CF2-9965-8BD1-9957-E7FA356EC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3073" y="747253"/>
            <a:ext cx="7939457" cy="563203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C362509-D0C7-0E4F-7A99-026D2256F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208" y="1653032"/>
            <a:ext cx="4096322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76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7F1787A-11D7-54AE-BFB8-C4C0FDEA2334}"/>
              </a:ext>
            </a:extLst>
          </p:cNvPr>
          <p:cNvSpPr/>
          <p:nvPr/>
        </p:nvSpPr>
        <p:spPr>
          <a:xfrm>
            <a:off x="0" y="-556"/>
            <a:ext cx="12192000" cy="8429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noProof="0" dirty="0"/>
              <a:t>Modello matematico 1-DOF(Massa-Molla-Smorzatore)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D21E67-A057-0444-C0C3-5BF3684BB7A7}"/>
                  </a:ext>
                </a:extLst>
              </p:cNvPr>
              <p:cNvSpPr txBox="1"/>
              <p:nvPr/>
            </p:nvSpPr>
            <p:spPr>
              <a:xfrm>
                <a:off x="252919" y="1132980"/>
                <a:ext cx="1971819" cy="18234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sSub>
                                        <m:sSubPr>
                                          <m:ctrlP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sSub>
                                        <m:sSubPr>
                                          <m:ctrlP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D21E67-A057-0444-C0C3-5BF3684BB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19" y="1132980"/>
                <a:ext cx="1971819" cy="1823448"/>
              </a:xfrm>
              <a:prstGeom prst="rect">
                <a:avLst/>
              </a:prstGeom>
              <a:blipFill>
                <a:blip r:embed="rId2"/>
                <a:stretch>
                  <a:fillRect l="-175796" t="-236806" r="-101274" b="-335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4CA3123-6A7E-FA04-4BBC-B263E8796D1D}"/>
              </a:ext>
            </a:extLst>
          </p:cNvPr>
          <p:cNvSpPr txBox="1"/>
          <p:nvPr/>
        </p:nvSpPr>
        <p:spPr>
          <a:xfrm>
            <a:off x="6096000" y="1132980"/>
            <a:ext cx="4591321" cy="1697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400" dirty="0"/>
              <a:t>c = </a:t>
            </a:r>
            <a:r>
              <a:rPr lang="en-GB" sz="2400" dirty="0" err="1"/>
              <a:t>coefficiente</a:t>
            </a:r>
            <a:r>
              <a:rPr lang="en-GB" sz="2400" dirty="0"/>
              <a:t> di </a:t>
            </a:r>
            <a:r>
              <a:rPr lang="en-GB" sz="2400" dirty="0" err="1"/>
              <a:t>smorzamento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it-IT" sz="2400" dirty="0"/>
              <a:t>k = coefficiente elastico della molla</a:t>
            </a:r>
          </a:p>
          <a:p>
            <a:pPr>
              <a:lnSpc>
                <a:spcPct val="150000"/>
              </a:lnSpc>
            </a:pPr>
            <a:r>
              <a:rPr lang="it-IT" sz="2400" dirty="0"/>
              <a:t>m = massa del veicolo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4A6850-ACCA-9A57-542F-42F9BFC920CB}"/>
                  </a:ext>
                </a:extLst>
              </p:cNvPr>
              <p:cNvSpPr txBox="1"/>
              <p:nvPr/>
            </p:nvSpPr>
            <p:spPr>
              <a:xfrm>
                <a:off x="0" y="4583820"/>
                <a:ext cx="8390947" cy="9041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𝐵𝐹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4A6850-ACCA-9A57-542F-42F9BFC92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83820"/>
                <a:ext cx="8390947" cy="904158"/>
              </a:xfrm>
              <a:prstGeom prst="rect">
                <a:avLst/>
              </a:prstGeom>
              <a:blipFill>
                <a:blip r:embed="rId3"/>
                <a:stretch>
                  <a:fillRect b="-191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69D66FE-A817-0E73-E76D-76B4345F1379}"/>
              </a:ext>
            </a:extLst>
          </p:cNvPr>
          <p:cNvSpPr txBox="1"/>
          <p:nvPr/>
        </p:nvSpPr>
        <p:spPr>
          <a:xfrm>
            <a:off x="252919" y="3676909"/>
            <a:ext cx="486200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Ottenendo in forma matriciale: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31420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49480-E974-994A-CAD9-EB0C2ECFE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6519004-FAFF-5BD2-6438-0A73ACA3FED1}"/>
              </a:ext>
            </a:extLst>
          </p:cNvPr>
          <p:cNvSpPr/>
          <p:nvPr/>
        </p:nvSpPr>
        <p:spPr>
          <a:xfrm>
            <a:off x="0" y="-556"/>
            <a:ext cx="12192000" cy="8429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dirty="0"/>
              <a:t>Analisi stabilità</a:t>
            </a:r>
            <a:r>
              <a:rPr lang="it-IT" sz="3600" noProof="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912F5EF-49B8-47B8-745F-D7FCA0B8EA19}"/>
                  </a:ext>
                </a:extLst>
              </p:cNvPr>
              <p:cNvSpPr txBox="1"/>
              <p:nvPr/>
            </p:nvSpPr>
            <p:spPr>
              <a:xfrm>
                <a:off x="128587" y="1197682"/>
                <a:ext cx="8390947" cy="9041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𝐵𝐹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sz="3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912F5EF-49B8-47B8-745F-D7FCA0B8E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7" y="1197682"/>
                <a:ext cx="8390947" cy="904158"/>
              </a:xfrm>
              <a:prstGeom prst="rect">
                <a:avLst/>
              </a:prstGeom>
              <a:blipFill>
                <a:blip r:embed="rId2"/>
                <a:stretch>
                  <a:fillRect b="-19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4830434-5B5F-082A-262F-EABE6D048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893" y="2785780"/>
            <a:ext cx="8514142" cy="16941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60F340-BF0C-EDC6-3099-D94F04142DC2}"/>
              </a:ext>
            </a:extLst>
          </p:cNvPr>
          <p:cNvSpPr txBox="1"/>
          <p:nvPr/>
        </p:nvSpPr>
        <p:spPr>
          <a:xfrm>
            <a:off x="328613" y="2415821"/>
            <a:ext cx="4209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Il cui polinomio caratteristico è: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38FA7-1715-3CDE-399A-39C39C43D8E1}"/>
              </a:ext>
            </a:extLst>
          </p:cNvPr>
          <p:cNvSpPr txBox="1"/>
          <p:nvPr/>
        </p:nvSpPr>
        <p:spPr>
          <a:xfrm>
            <a:off x="328612" y="4849879"/>
            <a:ext cx="10973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Poiché </a:t>
            </a:r>
            <a:r>
              <a:rPr lang="it-IT" sz="2400" dirty="0" err="1"/>
              <a:t>c,k</a:t>
            </a:r>
            <a:r>
              <a:rPr lang="it-IT" sz="2400" dirty="0"/>
              <a:t> e m sono maggiori di zero, per il criterio di Cartesio, abbiamo un polinomio </a:t>
            </a:r>
            <a:r>
              <a:rPr lang="it-IT" sz="2400" dirty="0" err="1"/>
              <a:t>Hurwitz</a:t>
            </a:r>
            <a:r>
              <a:rPr lang="it-IT" sz="2400" dirty="0"/>
              <a:t>. Allora il sistema è asintoticamente stabile.</a:t>
            </a:r>
          </a:p>
        </p:txBody>
      </p:sp>
    </p:spTree>
    <p:extLst>
      <p:ext uri="{BB962C8B-B14F-4D97-AF65-F5344CB8AC3E}">
        <p14:creationId xmlns:p14="http://schemas.microsoft.com/office/powerpoint/2010/main" val="136855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A9E5F-B3AB-AD66-7331-954DEB659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A8801-B0EA-814A-9884-9420A552B435}"/>
              </a:ext>
            </a:extLst>
          </p:cNvPr>
          <p:cNvSpPr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Analisi stabilità</a:t>
            </a:r>
            <a:r>
              <a:rPr lang="en-US" sz="28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Nyquist</a:t>
            </a:r>
            <a:r>
              <a:rPr lang="en-US" sz="28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 luogo delle radici</a:t>
            </a:r>
            <a:endParaRPr lang="en-US" sz="2800" noProof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2056B2-7136-B3DC-A7E4-47C499467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257735"/>
            <a:ext cx="5131088" cy="38450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538D3E-F484-A9CC-8E63-F1448EC59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94222"/>
            <a:ext cx="5131087" cy="38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5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B3F88-3012-A6AA-EC61-4DE46216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01638D-AC78-5BDE-557D-5CA2CFDC3137}"/>
              </a:ext>
            </a:extLst>
          </p:cNvPr>
          <p:cNvSpPr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Diagramma di Bode</a:t>
            </a:r>
            <a:endParaRPr lang="en-US" sz="2600" kern="1200" noProof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D2A240-52F2-C5F7-ACC9-818677EFE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556" y="961812"/>
            <a:ext cx="6580287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15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A96C86-5693-0D6E-F38A-4E0A8CEC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271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Modello matematico 2-DOF(Massa-Molla-Smorzatore)</a:t>
            </a:r>
            <a:br>
              <a:rPr lang="en-US" sz="25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25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68C9CB-000F-34EA-47D9-5D73D57B8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0" y="1412488"/>
            <a:ext cx="7434943" cy="521691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 err="1"/>
              <a:t>m_s</a:t>
            </a:r>
            <a:r>
              <a:rPr lang="en-US" sz="2000" dirty="0"/>
              <a:t>: Massa </a:t>
            </a:r>
            <a:r>
              <a:rPr lang="en-US" sz="2000" dirty="0" err="1"/>
              <a:t>sospesa</a:t>
            </a:r>
            <a:r>
              <a:rPr lang="en-US" sz="2000" dirty="0"/>
              <a:t> </a:t>
            </a:r>
          </a:p>
          <a:p>
            <a:r>
              <a:rPr lang="en-US" sz="2000" b="1" dirty="0"/>
              <a:t>m_{us}</a:t>
            </a:r>
            <a:r>
              <a:rPr lang="en-US" sz="2000" dirty="0"/>
              <a:t>: Massa non </a:t>
            </a:r>
            <a:r>
              <a:rPr lang="en-US" sz="2000" dirty="0" err="1"/>
              <a:t>sospesa</a:t>
            </a:r>
            <a:endParaRPr lang="en-US" sz="2000" dirty="0"/>
          </a:p>
          <a:p>
            <a:r>
              <a:rPr lang="en-US" sz="2000" b="1" dirty="0" err="1"/>
              <a:t>x_s</a:t>
            </a:r>
            <a:r>
              <a:rPr lang="en-US" sz="2000" dirty="0"/>
              <a:t>: </a:t>
            </a:r>
            <a:r>
              <a:rPr lang="en-US" sz="2000" dirty="0" err="1"/>
              <a:t>Spostamento</a:t>
            </a:r>
            <a:r>
              <a:rPr lang="en-US" sz="2000" dirty="0"/>
              <a:t> </a:t>
            </a:r>
            <a:r>
              <a:rPr lang="en-US" sz="2000" dirty="0" err="1"/>
              <a:t>verticale</a:t>
            </a:r>
            <a:r>
              <a:rPr lang="en-US" sz="2000" dirty="0"/>
              <a:t> </a:t>
            </a:r>
            <a:r>
              <a:rPr lang="en-US" sz="2000" dirty="0" err="1"/>
              <a:t>della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 </a:t>
            </a:r>
            <a:r>
              <a:rPr lang="en-US" sz="2000" dirty="0" err="1"/>
              <a:t>sospesa</a:t>
            </a:r>
            <a:endParaRPr lang="en-US" sz="2000" dirty="0"/>
          </a:p>
          <a:p>
            <a:r>
              <a:rPr lang="en-US" sz="2000" b="1" dirty="0"/>
              <a:t>x_{us}</a:t>
            </a:r>
            <a:r>
              <a:rPr lang="en-US" sz="2000" dirty="0"/>
              <a:t>: </a:t>
            </a:r>
            <a:r>
              <a:rPr lang="en-US" sz="2000" dirty="0" err="1"/>
              <a:t>Spostamento</a:t>
            </a:r>
            <a:r>
              <a:rPr lang="en-US" sz="2000" dirty="0"/>
              <a:t> </a:t>
            </a:r>
            <a:r>
              <a:rPr lang="en-US" sz="2000" dirty="0" err="1"/>
              <a:t>verticale</a:t>
            </a:r>
            <a:r>
              <a:rPr lang="en-US" sz="2000" dirty="0"/>
              <a:t> </a:t>
            </a:r>
            <a:r>
              <a:rPr lang="en-US" sz="2000" dirty="0" err="1"/>
              <a:t>della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 non </a:t>
            </a:r>
            <a:r>
              <a:rPr lang="en-US" sz="2000" dirty="0" err="1"/>
              <a:t>sospesa</a:t>
            </a:r>
            <a:endParaRPr lang="en-US" sz="2000" dirty="0"/>
          </a:p>
          <a:p>
            <a:r>
              <a:rPr lang="en-US" sz="2000" b="1" dirty="0" err="1"/>
              <a:t>x_r</a:t>
            </a:r>
            <a:r>
              <a:rPr lang="en-US" sz="2000" dirty="0"/>
              <a:t>: </a:t>
            </a:r>
            <a:r>
              <a:rPr lang="en-US" sz="2000" dirty="0" err="1"/>
              <a:t>Profilo</a:t>
            </a:r>
            <a:r>
              <a:rPr lang="en-US" sz="2000" dirty="0"/>
              <a:t> </a:t>
            </a:r>
            <a:r>
              <a:rPr lang="en-US" sz="2000" dirty="0" err="1"/>
              <a:t>della</a:t>
            </a:r>
            <a:r>
              <a:rPr lang="en-US" sz="2000" dirty="0"/>
              <a:t> </a:t>
            </a:r>
            <a:r>
              <a:rPr lang="en-US" sz="2000" dirty="0" err="1"/>
              <a:t>strada</a:t>
            </a:r>
            <a:r>
              <a:rPr lang="en-US" sz="2000" dirty="0"/>
              <a:t> </a:t>
            </a:r>
          </a:p>
          <a:p>
            <a:r>
              <a:rPr lang="en-US" sz="2000" b="1" dirty="0" err="1"/>
              <a:t>k_s</a:t>
            </a:r>
            <a:r>
              <a:rPr lang="en-US" sz="2000" dirty="0"/>
              <a:t>: </a:t>
            </a:r>
            <a:r>
              <a:rPr lang="en-US" sz="2000" dirty="0" err="1"/>
              <a:t>Rigidezza</a:t>
            </a:r>
            <a:r>
              <a:rPr lang="en-US" sz="2000" dirty="0"/>
              <a:t> </a:t>
            </a:r>
            <a:r>
              <a:rPr lang="en-US" sz="2000" dirty="0" err="1"/>
              <a:t>della</a:t>
            </a:r>
            <a:r>
              <a:rPr lang="en-US" sz="2000" dirty="0"/>
              <a:t> </a:t>
            </a:r>
            <a:r>
              <a:rPr lang="en-US" sz="2000" dirty="0" err="1"/>
              <a:t>molla</a:t>
            </a:r>
            <a:r>
              <a:rPr lang="en-US" sz="2000" dirty="0"/>
              <a:t> </a:t>
            </a:r>
            <a:r>
              <a:rPr lang="en-US" sz="2000" dirty="0" err="1"/>
              <a:t>della</a:t>
            </a:r>
            <a:r>
              <a:rPr lang="en-US" sz="2000" dirty="0"/>
              <a:t> </a:t>
            </a:r>
            <a:r>
              <a:rPr lang="en-US" sz="2000" dirty="0" err="1"/>
              <a:t>sospensione</a:t>
            </a:r>
            <a:r>
              <a:rPr lang="en-US" sz="2000" dirty="0"/>
              <a:t> </a:t>
            </a:r>
          </a:p>
          <a:p>
            <a:r>
              <a:rPr lang="en-US" sz="2000" b="1" dirty="0" err="1"/>
              <a:t>c_s</a:t>
            </a:r>
            <a:r>
              <a:rPr lang="en-US" sz="2000" dirty="0"/>
              <a:t>: </a:t>
            </a:r>
            <a:r>
              <a:rPr lang="en-US" sz="2000" dirty="0" err="1"/>
              <a:t>Coefficiente</a:t>
            </a:r>
            <a:r>
              <a:rPr lang="en-US" sz="2000" dirty="0"/>
              <a:t> di </a:t>
            </a:r>
            <a:r>
              <a:rPr lang="en-US" sz="2000" dirty="0" err="1"/>
              <a:t>smorzamento</a:t>
            </a:r>
            <a:r>
              <a:rPr lang="en-US" sz="2000" dirty="0"/>
              <a:t> </a:t>
            </a:r>
            <a:r>
              <a:rPr lang="en-US" sz="2000" dirty="0" err="1"/>
              <a:t>della</a:t>
            </a:r>
            <a:r>
              <a:rPr lang="en-US" sz="2000" dirty="0"/>
              <a:t> </a:t>
            </a:r>
            <a:r>
              <a:rPr lang="en-US" sz="2000" dirty="0" err="1"/>
              <a:t>sospensione</a:t>
            </a:r>
            <a:endParaRPr lang="en-US" sz="2000" dirty="0"/>
          </a:p>
          <a:p>
            <a:r>
              <a:rPr lang="en-US" sz="2000" b="1" dirty="0" err="1"/>
              <a:t>k_t</a:t>
            </a:r>
            <a:r>
              <a:rPr lang="en-US" sz="2000" dirty="0"/>
              <a:t>: </a:t>
            </a:r>
            <a:r>
              <a:rPr lang="en-US" sz="2000" dirty="0" err="1"/>
              <a:t>Rigidezza</a:t>
            </a:r>
            <a:r>
              <a:rPr lang="en-US" sz="2000" dirty="0"/>
              <a:t> </a:t>
            </a:r>
            <a:r>
              <a:rPr lang="en-US" sz="2000" dirty="0" err="1"/>
              <a:t>dello</a:t>
            </a:r>
            <a:r>
              <a:rPr lang="en-US" sz="2000" dirty="0"/>
              <a:t> </a:t>
            </a:r>
          </a:p>
          <a:p>
            <a:r>
              <a:rPr lang="en-US" sz="2000" b="1" dirty="0" err="1"/>
              <a:t>c_t</a:t>
            </a:r>
            <a:r>
              <a:rPr lang="en-US" sz="2000" dirty="0"/>
              <a:t>: </a:t>
            </a:r>
            <a:r>
              <a:rPr lang="it-IT" sz="2000" dirty="0"/>
              <a:t>Smorzamento dello pneumatico</a:t>
            </a:r>
          </a:p>
          <a:p>
            <a:r>
              <a:rPr lang="en-US" sz="2000" dirty="0" err="1"/>
              <a:t>Applicando</a:t>
            </a:r>
            <a:r>
              <a:rPr lang="en-US" sz="2000" dirty="0"/>
              <a:t> la </a:t>
            </a:r>
            <a:r>
              <a:rPr lang="en-US" sz="2000" dirty="0" err="1"/>
              <a:t>Seconda</a:t>
            </a:r>
            <a:r>
              <a:rPr lang="en-US" sz="2000" dirty="0"/>
              <a:t> Legge di Newton (F=ma) a </a:t>
            </a:r>
            <a:r>
              <a:rPr lang="en-US" sz="2000" dirty="0" err="1"/>
              <a:t>ciascuna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, </a:t>
            </a:r>
            <a:r>
              <a:rPr lang="en-US" sz="2000" dirty="0" err="1"/>
              <a:t>otteniamo</a:t>
            </a:r>
            <a:r>
              <a:rPr lang="en-US" sz="2000" dirty="0"/>
              <a:t> il </a:t>
            </a:r>
            <a:r>
              <a:rPr lang="en-US" sz="2000" dirty="0" err="1"/>
              <a:t>seguente</a:t>
            </a:r>
            <a:r>
              <a:rPr lang="en-US" sz="2000" dirty="0"/>
              <a:t> </a:t>
            </a:r>
            <a:r>
              <a:rPr lang="en-US" sz="2000" dirty="0" err="1"/>
              <a:t>sistema</a:t>
            </a:r>
            <a:r>
              <a:rPr lang="en-US" sz="2000" dirty="0"/>
              <a:t> di due </a:t>
            </a:r>
            <a:r>
              <a:rPr lang="en-US" sz="2000" dirty="0" err="1"/>
              <a:t>equazioni</a:t>
            </a:r>
            <a:r>
              <a:rPr lang="en-US" sz="2000" dirty="0"/>
              <a:t> </a:t>
            </a:r>
            <a:r>
              <a:rPr lang="en-US" sz="2000" dirty="0" err="1"/>
              <a:t>differenziali</a:t>
            </a:r>
            <a:r>
              <a:rPr lang="en-US" sz="2000" dirty="0"/>
              <a:t> </a:t>
            </a:r>
            <a:r>
              <a:rPr lang="en-US" sz="2000" dirty="0" err="1"/>
              <a:t>accoppiate</a:t>
            </a:r>
            <a:r>
              <a:rPr lang="en-US" sz="2000" dirty="0"/>
              <a:t>:</a:t>
            </a:r>
          </a:p>
          <a:p>
            <a:endParaRPr lang="en-US" sz="10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F4738D5-F19F-E019-5F5D-881A05311E98}"/>
              </a:ext>
            </a:extLst>
          </p:cNvPr>
          <p:cNvSpPr txBox="1"/>
          <p:nvPr/>
        </p:nvSpPr>
        <p:spPr>
          <a:xfrm>
            <a:off x="4724400" y="1007064"/>
            <a:ext cx="3400673" cy="4054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 err="1"/>
              <a:t>Variabili</a:t>
            </a:r>
            <a:r>
              <a:rPr lang="en-US" sz="2400" b="1" dirty="0"/>
              <a:t>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3546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555FB6-69A5-8541-927B-88311EA9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Equazione per la Massa Sospesa (</a:t>
            </a:r>
            <a:r>
              <a:rPr lang="it-IT" dirty="0" err="1"/>
              <a:t>m_s</a:t>
            </a:r>
            <a:r>
              <a:rPr lang="it-IT" dirty="0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F9A8E0-281C-84A5-86D5-A1696CAA1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massa della carrozzeria è soggetta solo alle forze della molla e dello smorzatore della sospensione che la collegano alla ruota.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333037F-0168-AFA0-59D6-769BF84A8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951" y="2971318"/>
            <a:ext cx="5835433" cy="45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92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9388C7-3F6F-C286-292D-69285884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66585" cy="1325563"/>
          </a:xfrm>
        </p:spPr>
        <p:txBody>
          <a:bodyPr/>
          <a:lstStyle/>
          <a:p>
            <a:r>
              <a:rPr lang="it-IT" dirty="0"/>
              <a:t>Equazione per la Massa Non Sospesa (m_{</a:t>
            </a:r>
            <a:r>
              <a:rPr lang="it-IT" dirty="0" err="1"/>
              <a:t>us</a:t>
            </a:r>
            <a:r>
              <a:rPr lang="it-IT" dirty="0"/>
              <a:t>})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4F11BA-CCE5-9F30-6FF2-C3B7E450A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forza sulla massa della ruota è data dalla reazione della sospensione dall'alto e dalla reazione dello pneumatico dal basso, che a sua volta dipende dal profilo stradale.</a:t>
            </a: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B96D7D3-597B-A32B-F857-28E33581F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97" y="3182926"/>
            <a:ext cx="10696987" cy="49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89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B1ADA1-82BD-2FAC-B941-4AABBE2B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49B786-C497-1A0E-A0AA-0816A128F000}"/>
              </a:ext>
            </a:extLst>
          </p:cNvPr>
          <p:cNvSpPr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Conclusioni</a:t>
            </a:r>
            <a:endParaRPr lang="en-US" sz="40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D21F56-970F-FFAD-4C4F-CF39A2A98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19" y="1710812"/>
            <a:ext cx="11916697" cy="5004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it-IT" sz="13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Inadeguatezza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del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Modello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1-DOF: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Il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modello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iniziale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che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semplifica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il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veicolo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una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singola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massa-molla-smorzatore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(1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grado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di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libertà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),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è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dimostrato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insufficiente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per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descrivere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accuratamente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la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realtà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. I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grafici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specialmente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su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strada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sterrata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hanno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mostrato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una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significativa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discrepanza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tra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l'accelerazione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simulata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e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quella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misurata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indicando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che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questo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modello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è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troppo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semplice per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catturare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le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dinamiche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del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veicolo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Efficacia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del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Modello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2-DOF: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L'introduzione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di un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modello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a 2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gradi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di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libertà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(2-DOF),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rappresentativo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di un "quarto di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veicolo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" con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massa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sospesa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e non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sospesa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ha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migliorato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drasticamente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l'accuratezza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della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simulazione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</a:p>
          <a:p>
            <a:pPr marL="457200" marR="0"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Nel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dominio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del tempo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grafici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mostrano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un'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ottima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corrispondenza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tra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il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segnale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simulato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Acc_modello_Simscape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) e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quello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misurato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Acc_modello_Misurato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)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sia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su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strada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liscia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che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sterrata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</a:p>
          <a:p>
            <a:pPr marL="457200" marR="0"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Nel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dominio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della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frequenza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l'analisi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spettrale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conferma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la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validità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del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modello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. Gli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spettri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dei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segnali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simulati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e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reali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presentano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un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andamento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molto simile, con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picchi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e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valli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posizionati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frequenze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paragonabili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validando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la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corretta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rappresentazione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delle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dinamiche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del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sistema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sospensione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e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pneumatico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).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Stabilità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del Sistema: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L'analisi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matematica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dei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modelli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ha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confermato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che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data la natura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fisica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dei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componenti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passivi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(masse, molle e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smorzatori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con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coefficienti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positivi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),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sia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il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modello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1-DOF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che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il 2-DOF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sono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asintoticamente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stabili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come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previsto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dalla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teoria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In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conclusione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, il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progetto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ha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dimostrato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con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successo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che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un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modello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a 2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gradi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di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libertà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è </a:t>
            </a:r>
            <a:r>
              <a:rPr kumimoji="0" lang="en-US" altLang="it-IT" sz="1600" b="1" i="0" u="none" strike="noStrike" cap="none" normalizeH="0" baseline="0" dirty="0" err="1">
                <a:ln>
                  <a:noFill/>
                </a:ln>
                <a:effectLst/>
              </a:rPr>
              <a:t>necessario</a:t>
            </a:r>
            <a:r>
              <a:rPr kumimoji="0" lang="en-US" altLang="it-IT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per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descrivere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con buona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fedeltà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il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comportamento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vibrazionale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verticale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 del </a:t>
            </a:r>
            <a:r>
              <a:rPr kumimoji="0" lang="en-US" altLang="it-IT" sz="1600" b="0" i="0" u="none" strike="noStrike" cap="none" normalizeH="0" baseline="0" dirty="0" err="1">
                <a:ln>
                  <a:noFill/>
                </a:ln>
                <a:effectLst/>
              </a:rPr>
              <a:t>veicolo</a:t>
            </a:r>
            <a:r>
              <a:rPr kumimoji="0" lang="en-US" altLang="it-IT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21662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BA78AC5-E5BB-47B5-9038-839CEDE13D4A}">
  <we:reference id="4b785c87-866c-4bad-85d8-5d1ae467ac9a" version="3.19.0.0" store="EXCatalog" storeType="EXCatalog"/>
  <we:alternateReferences>
    <we:reference id="WA104381909" version="3.19.0.0" store="it-IT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791</Words>
  <Application>Microsoft Office PowerPoint</Application>
  <PresentationFormat>Widescreen</PresentationFormat>
  <Paragraphs>78</Paragraphs>
  <Slides>30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Cambria Math</vt:lpstr>
      <vt:lpstr>Tema di Office</vt:lpstr>
      <vt:lpstr>Meccanica delle vibrazioni</vt:lpstr>
      <vt:lpstr>Indice </vt:lpstr>
      <vt:lpstr>Introduzione</vt:lpstr>
      <vt:lpstr>SET-UP Sperimentale</vt:lpstr>
      <vt:lpstr>Presentazione standard di PowerPoint</vt:lpstr>
      <vt:lpstr>Arduino</vt:lpstr>
      <vt:lpstr>Arduino</vt:lpstr>
      <vt:lpstr>Presentazione standard di PowerPoint</vt:lpstr>
      <vt:lpstr>Presentazione standard di PowerPoint</vt:lpstr>
      <vt:lpstr>Presentazione standard di PowerPoint</vt:lpstr>
      <vt:lpstr>Modello SIMSCAPE 1-DOF</vt:lpstr>
      <vt:lpstr>Grafico Accelerazione(Strada Liscia)</vt:lpstr>
      <vt:lpstr>Grafico Accelerazione(Strada Sterrata)</vt:lpstr>
      <vt:lpstr>Modello SIMSCAPE 2-DOF</vt:lpstr>
      <vt:lpstr>Grafico Accelerazione_2DOF(Strada Liscia) </vt:lpstr>
      <vt:lpstr>Presentazione standard di PowerPoint</vt:lpstr>
      <vt:lpstr>Grafico Accelerazione_2DOF(Strada Sterrata)</vt:lpstr>
      <vt:lpstr>Presentazione standard di PowerPoint</vt:lpstr>
      <vt:lpstr>Dominio della frequenza(Strada Sterrata)(2DOF)</vt:lpstr>
      <vt:lpstr>Dominio della frequenza(Strada Sterrata)(1DOF)</vt:lpstr>
      <vt:lpstr>Dominio della frequenza(Strada Liscia)(2DOF)</vt:lpstr>
      <vt:lpstr>Dominio della frequenza(Strada Liscia)(1DOF)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Modello matematico 2-DOF(Massa-Molla-Smorzatore) </vt:lpstr>
      <vt:lpstr>Equazione per la Massa Sospesa (m_s)</vt:lpstr>
      <vt:lpstr>Equazione per la Massa Non Sospesa (m_{us})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vinci</dc:creator>
  <cp:lastModifiedBy>daniele di giamberardino</cp:lastModifiedBy>
  <cp:revision>28</cp:revision>
  <dcterms:created xsi:type="dcterms:W3CDTF">2025-01-15T10:14:09Z</dcterms:created>
  <dcterms:modified xsi:type="dcterms:W3CDTF">2025-11-17T09:45:26Z</dcterms:modified>
</cp:coreProperties>
</file>